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12192000"/>
  <p:notesSz cx="6858000" cy="9144000"/>
  <p:embeddedFontLst>
    <p:embeddedFont>
      <p:font typeface="Roboto"/>
      <p:regular r:id="rId33"/>
      <p:bold r:id="rId34"/>
      <p:italic r:id="rId35"/>
      <p:boldItalic r:id="rId36"/>
    </p:embeddedFont>
    <p:embeddedFont>
      <p:font typeface="Roboto Medium"/>
      <p:regular r:id="rId37"/>
      <p:bold r:id="rId38"/>
      <p:italic r:id="rId39"/>
      <p:boldItalic r:id="rId40"/>
    </p:embeddedFont>
    <p:embeddedFont>
      <p:font typeface="Roboto Light"/>
      <p:regular r:id="rId41"/>
      <p:bold r:id="rId42"/>
      <p:italic r:id="rId43"/>
      <p:boldItalic r:id="rId44"/>
    </p:embeddedFont>
    <p:embeddedFont>
      <p:font typeface="Roboto Serif SemiBold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9" roundtripDataSignature="AMtx7mgODRl2z04VLq/Ky0AousPh4dIf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edium-boldItalic.fntdata"/><Relationship Id="rId42" Type="http://schemas.openxmlformats.org/officeDocument/2006/relationships/font" Target="fonts/RobotoLight-bold.fntdata"/><Relationship Id="rId41" Type="http://schemas.openxmlformats.org/officeDocument/2006/relationships/font" Target="fonts/RobotoLight-regular.fntdata"/><Relationship Id="rId44" Type="http://schemas.openxmlformats.org/officeDocument/2006/relationships/font" Target="fonts/RobotoLight-boldItalic.fntdata"/><Relationship Id="rId43" Type="http://schemas.openxmlformats.org/officeDocument/2006/relationships/font" Target="fonts/RobotoLight-italic.fntdata"/><Relationship Id="rId46" Type="http://schemas.openxmlformats.org/officeDocument/2006/relationships/font" Target="fonts/RobotoSerifSemiBold-bold.fntdata"/><Relationship Id="rId45" Type="http://schemas.openxmlformats.org/officeDocument/2006/relationships/font" Target="fonts/RobotoSerifSemiBold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font" Target="fonts/RobotoSerifSemiBold-boldItalic.fntdata"/><Relationship Id="rId47" Type="http://schemas.openxmlformats.org/officeDocument/2006/relationships/font" Target="fonts/RobotoSerifSemiBold-italic.fntdata"/><Relationship Id="rId4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font" Target="fonts/Roboto-regular.fntdata"/><Relationship Id="rId32" Type="http://schemas.openxmlformats.org/officeDocument/2006/relationships/slide" Target="slides/slide27.xml"/><Relationship Id="rId35" Type="http://schemas.openxmlformats.org/officeDocument/2006/relationships/font" Target="fonts/Roboto-italic.fntdata"/><Relationship Id="rId34" Type="http://schemas.openxmlformats.org/officeDocument/2006/relationships/font" Target="fonts/Roboto-bold.fntdata"/><Relationship Id="rId37" Type="http://schemas.openxmlformats.org/officeDocument/2006/relationships/font" Target="fonts/RobotoMedium-regular.fntdata"/><Relationship Id="rId36" Type="http://schemas.openxmlformats.org/officeDocument/2006/relationships/font" Target="fonts/Roboto-boldItalic.fntdata"/><Relationship Id="rId39" Type="http://schemas.openxmlformats.org/officeDocument/2006/relationships/font" Target="fonts/RobotoMedium-italic.fntdata"/><Relationship Id="rId38" Type="http://schemas.openxmlformats.org/officeDocument/2006/relationships/font" Target="fonts/RobotoMedium-bold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github.com/infpals/Git-Basics.git" TargetMode="Externa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955a53f18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g3f955a53f18_0_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955a53f1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g3f955a53f18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60dfddb1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f60dfddb1a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955a53f18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g3f955a53f18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60dfddb1a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g3f60dfddb1a_0_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60dfddb1a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g3f60dfddb1a_0_1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60dfddb1a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g3f60dfddb1a_0_2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60dfddb1a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g3f60dfddb1a_0_2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61faa959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g3f61faa959d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9c64703a8e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g39c64703a8e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9c64703a8e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g39c64703a8e_0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f61faa959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g3f61faa959d_0_1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61faa959d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GB"/>
              <a:t>cd ~/Desktop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GB"/>
              <a:t>Mkdir PracticeGit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GB">
                <a:solidFill>
                  <a:schemeClr val="dk1"/>
                </a:solidFill>
              </a:rPr>
              <a:t>git init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GB"/>
              <a:t>cd PracticeGit</a:t>
            </a:r>
            <a:br>
              <a:rPr lang="en-GB"/>
            </a:br>
            <a:r>
              <a:rPr lang="en-GB"/>
              <a:t>git status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GB"/>
              <a:t>: &gt; Me.txt</a:t>
            </a:r>
            <a:br>
              <a:rPr lang="en-GB"/>
            </a:br>
            <a:r>
              <a:rPr lang="en-GB"/>
              <a:t>git add Me.txt</a:t>
            </a:r>
            <a:br>
              <a:rPr lang="en-GB"/>
            </a:br>
            <a:r>
              <a:rPr lang="en-GB"/>
              <a:t>git commit -m “initial commit”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GB"/>
              <a:t>echo "Hello! :) My name is &lt;your name&gt;" &gt;&gt; Me.txt</a:t>
            </a:r>
            <a:br>
              <a:rPr lang="en-GB"/>
            </a:br>
            <a:r>
              <a:rPr lang="en-GB"/>
              <a:t>git add Me.txt</a:t>
            </a:r>
            <a:br>
              <a:rPr lang="en-GB"/>
            </a:br>
            <a:r>
              <a:rPr lang="en-GB"/>
              <a:t>git commit -m "add my name"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GB"/>
              <a:t>echo "I study &lt;degree&gt;" &gt;&gt; Me.txt</a:t>
            </a:r>
            <a:br>
              <a:rPr lang="en-GB"/>
            </a:br>
            <a:r>
              <a:rPr lang="en-GB"/>
              <a:t>touch Colors.txt</a:t>
            </a:r>
            <a:br>
              <a:rPr lang="en-GB"/>
            </a:br>
            <a:r>
              <a:rPr lang="en-GB"/>
              <a:t>git add Me.txt</a:t>
            </a:r>
            <a:br>
              <a:rPr lang="en-GB"/>
            </a:br>
            <a:r>
              <a:rPr lang="en-GB"/>
              <a:t>git commit -m "add my degree"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GB"/>
              <a:t>git add Colors.txt</a:t>
            </a:r>
            <a:br>
              <a:rPr lang="en-GB"/>
            </a:br>
            <a:r>
              <a:rPr lang="en-GB"/>
              <a:t>git commit -m "add Colors.txt file"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GB"/>
              <a:t>git log --pretty=format:"%h | %an | %ad | %s" --date=short</a:t>
            </a:r>
            <a:br>
              <a:rPr lang="en-GB"/>
            </a:br>
            <a:r>
              <a:rPr lang="en-GB"/>
              <a:t>git diff $(git rev-list --max-parents=0 HEAD) HEAD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GB"/>
              <a:t>(On github)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GB"/>
              <a:t>echo red green blue &gt; Colors.txt</a:t>
            </a:r>
            <a:br>
              <a:rPr lang="en-GB"/>
            </a:br>
            <a:r>
              <a:rPr lang="en-GB"/>
              <a:t>git add Colors.txt</a:t>
            </a:r>
            <a:br>
              <a:rPr lang="en-GB"/>
            </a:br>
            <a:r>
              <a:rPr lang="en-GB"/>
              <a:t>git commit -m "add my 3 favourite colours"</a:t>
            </a:r>
            <a:br>
              <a:rPr lang="en-GB"/>
            </a:br>
            <a:r>
              <a:rPr lang="en-GB"/>
              <a:t>git push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GB"/>
              <a:t>cd ~/Desktop</a:t>
            </a:r>
            <a:br>
              <a:rPr lang="en-GB"/>
            </a:br>
            <a:r>
              <a:rPr lang="en-GB"/>
              <a:t>git clone </a:t>
            </a:r>
            <a:r>
              <a:rPr lang="en-GB" u="sng">
                <a:solidFill>
                  <a:schemeClr val="hlink"/>
                </a:solidFill>
                <a:hlinkClick r:id="rId2"/>
              </a:rPr>
              <a:t>https://github.com/infpals/Git-Basics.git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GB"/>
              <a:t>cd &lt;WORKSHOP_REPO&gt;</a:t>
            </a:r>
            <a:br>
              <a:rPr lang="en-GB"/>
            </a:br>
            <a:r>
              <a:rPr lang="en-GB"/>
              <a:t>git log --oneline</a:t>
            </a:r>
            <a:br>
              <a:rPr lang="en-GB"/>
            </a:br>
            <a:endParaRPr/>
          </a:p>
        </p:txBody>
      </p:sp>
      <p:sp>
        <p:nvSpPr>
          <p:cNvPr id="266" name="Google Shape;266;g3f61faa959d_0_3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f955a53f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3" name="Google Shape;283;g3f955a53f1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955a53f18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9" name="Google Shape;289;g3f955a53f18_0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60dfddb1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5" name="Google Shape;295;g3f60dfddb1a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9c64703a8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0" name="Google Shape;330;g39c64703a8e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8" name="Google Shape;33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9c94630b4a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4" name="Google Shape;344;g39c94630b4a_0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f60dfddb1a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0" name="Google Shape;350;g3f60dfddb1a_0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9c64703a8e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6" name="Google Shape;356;g39c64703a8e_0_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9c94630b4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6" name="Google Shape;366;g39c94630b4a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red background&#10;&#10;Description automatically generated" id="11" name="Google Shape;11;p37"/>
          <p:cNvPicPr preferRelativeResize="0"/>
          <p:nvPr/>
        </p:nvPicPr>
        <p:blipFill rotWithShape="1">
          <a:blip r:embed="rId2">
            <a:alphaModFix/>
          </a:blip>
          <a:srcRect b="0" l="65506" r="0" t="39910"/>
          <a:stretch/>
        </p:blipFill>
        <p:spPr>
          <a:xfrm>
            <a:off x="7986532" y="2740694"/>
            <a:ext cx="4205468" cy="4117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37"/>
          <p:cNvPicPr preferRelativeResize="0"/>
          <p:nvPr/>
        </p:nvPicPr>
        <p:blipFill rotWithShape="1">
          <a:blip r:embed="rId3">
            <a:alphaModFix/>
          </a:blip>
          <a:srcRect b="0" l="0" r="51987" t="0"/>
          <a:stretch/>
        </p:blipFill>
        <p:spPr>
          <a:xfrm rot="10800000">
            <a:off x="0" y="0"/>
            <a:ext cx="3070033" cy="92573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7"/>
          <p:cNvSpPr txBox="1"/>
          <p:nvPr>
            <p:ph type="ctrTitle"/>
          </p:nvPr>
        </p:nvSpPr>
        <p:spPr>
          <a:xfrm>
            <a:off x="415600" y="992767"/>
            <a:ext cx="7850000" cy="2264783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Roboto Serif SemiBold"/>
              <a:buNone/>
              <a:defRPr b="0" sz="6933">
                <a:latin typeface="Roboto Serif SemiBold"/>
                <a:ea typeface="Roboto Serif SemiBold"/>
                <a:cs typeface="Roboto Serif SemiBold"/>
                <a:sym typeface="Roboto Serif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/>
        </p:txBody>
      </p:sp>
      <p:sp>
        <p:nvSpPr>
          <p:cNvPr id="14" name="Google Shape;14;p37"/>
          <p:cNvSpPr txBox="1"/>
          <p:nvPr>
            <p:ph idx="1" type="subTitle"/>
          </p:nvPr>
        </p:nvSpPr>
        <p:spPr>
          <a:xfrm>
            <a:off x="415599" y="3429000"/>
            <a:ext cx="7849999" cy="18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733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/>
        </p:txBody>
      </p:sp>
      <p:sp>
        <p:nvSpPr>
          <p:cNvPr id="15" name="Google Shape;15;p37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None">
  <p:cSld name="Blank Non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red background&#10;&#10;Description automatically generated" id="17" name="Google Shape;17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0"/>
            <a:ext cx="1220284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8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8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" name="Google Shape;20;p38"/>
          <p:cNvSpPr/>
          <p:nvPr/>
        </p:nvSpPr>
        <p:spPr>
          <a:xfrm rot="5400000">
            <a:off x="-698269" y="4447309"/>
            <a:ext cx="3108960" cy="171242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8"/>
          <p:cNvSpPr txBox="1"/>
          <p:nvPr>
            <p:ph idx="1" type="body"/>
          </p:nvPr>
        </p:nvSpPr>
        <p:spPr>
          <a:xfrm>
            <a:off x="415599" y="1536633"/>
            <a:ext cx="7837149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400"/>
              <a:buChar char="&gt;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Light"/>
              <a:buChar char="■"/>
              <a:defRPr sz="1600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None">
  <p:cSld name="1_Blank Non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red background&#10;&#10;Description automatically generated" id="23" name="Google Shape;23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1904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9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39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" name="Google Shape;26;p39"/>
          <p:cNvSpPr/>
          <p:nvPr/>
        </p:nvSpPr>
        <p:spPr>
          <a:xfrm rot="5400000">
            <a:off x="-698269" y="4447309"/>
            <a:ext cx="3108960" cy="171242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9"/>
          <p:cNvSpPr txBox="1"/>
          <p:nvPr>
            <p:ph idx="1" type="body"/>
          </p:nvPr>
        </p:nvSpPr>
        <p:spPr>
          <a:xfrm>
            <a:off x="415599" y="1536633"/>
            <a:ext cx="7837149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400"/>
              <a:buChar char="&gt;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Light"/>
              <a:buChar char="■"/>
              <a:defRPr sz="1600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None">
  <p:cSld name="1_Blank None 2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0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40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red background&#10;&#10;Description automatically generated" id="32" name="Google Shape;32;p41"/>
          <p:cNvPicPr preferRelativeResize="0"/>
          <p:nvPr/>
        </p:nvPicPr>
        <p:blipFill rotWithShape="1">
          <a:blip r:embed="rId2">
            <a:alphaModFix/>
          </a:blip>
          <a:srcRect b="0" l="65506" r="0" t="39910"/>
          <a:stretch/>
        </p:blipFill>
        <p:spPr>
          <a:xfrm rot="-5400000">
            <a:off x="8030613" y="44081"/>
            <a:ext cx="4205468" cy="4117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1"/>
          <p:cNvPicPr preferRelativeResize="0"/>
          <p:nvPr/>
        </p:nvPicPr>
        <p:blipFill rotWithShape="1">
          <a:blip r:embed="rId3">
            <a:alphaModFix/>
          </a:blip>
          <a:srcRect b="0" l="0" r="51987" t="0"/>
          <a:stretch/>
        </p:blipFill>
        <p:spPr>
          <a:xfrm rot="5400000">
            <a:off x="-1072150" y="4860117"/>
            <a:ext cx="3070033" cy="925733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1"/>
          <p:cNvSpPr txBox="1"/>
          <p:nvPr>
            <p:ph type="ctrTitle"/>
          </p:nvPr>
        </p:nvSpPr>
        <p:spPr>
          <a:xfrm>
            <a:off x="633046" y="2296608"/>
            <a:ext cx="9043517" cy="2264783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Roboto Serif SemiBold"/>
              <a:buNone/>
              <a:defRPr b="0" sz="6933">
                <a:latin typeface="Roboto Serif SemiBold"/>
                <a:ea typeface="Roboto Serif SemiBold"/>
                <a:cs typeface="Roboto Serif SemiBold"/>
                <a:sym typeface="Roboto Serif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/>
        </p:txBody>
      </p:sp>
      <p:sp>
        <p:nvSpPr>
          <p:cNvPr id="35" name="Google Shape;35;p41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2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42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3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43"/>
          <p:cNvSpPr txBox="1"/>
          <p:nvPr>
            <p:ph idx="1" type="body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400"/>
              <a:buChar char="&gt;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Light"/>
              <a:buChar char="■"/>
              <a:defRPr sz="1600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42" name="Google Shape;42;p43"/>
          <p:cNvSpPr txBox="1"/>
          <p:nvPr>
            <p:ph idx="2" type="body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400"/>
              <a:buChar char="&gt;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43" name="Google Shape;43;p43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4"/>
          <p:cNvSpPr txBox="1"/>
          <p:nvPr>
            <p:ph idx="1" type="body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44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5"/>
          <p:cNvSpPr txBox="1"/>
          <p:nvPr>
            <p:ph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/>
        </p:txBody>
      </p:sp>
      <p:sp>
        <p:nvSpPr>
          <p:cNvPr id="49" name="Google Shape;49;p45"/>
          <p:cNvSpPr txBox="1"/>
          <p:nvPr>
            <p:ph idx="1" type="body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&gt;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45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6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ight Blank">
  <p:cSld name="Right 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7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" name="Google Shape;55;p47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6" name="Google Shape;56;p47"/>
          <p:cNvSpPr/>
          <p:nvPr/>
        </p:nvSpPr>
        <p:spPr>
          <a:xfrm rot="5400000">
            <a:off x="-698269" y="4447309"/>
            <a:ext cx="3108960" cy="171242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Photos">
  <p:cSld name="Team Photo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59" name="Google Shape;59;p48"/>
          <p:cNvSpPr txBox="1"/>
          <p:nvPr>
            <p:ph idx="2" type="title"/>
          </p:nvPr>
        </p:nvSpPr>
        <p:spPr>
          <a:xfrm>
            <a:off x="1026967" y="3820400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333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60" name="Google Shape;60;p48"/>
          <p:cNvSpPr txBox="1"/>
          <p:nvPr>
            <p:ph idx="3" type="title"/>
          </p:nvPr>
        </p:nvSpPr>
        <p:spPr>
          <a:xfrm>
            <a:off x="1026967" y="4087633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Light"/>
              <a:buNone/>
              <a:defRPr b="0" i="1" sz="1333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61" name="Google Shape;61;p48"/>
          <p:cNvSpPr/>
          <p:nvPr>
            <p:ph idx="4" type="pic"/>
          </p:nvPr>
        </p:nvSpPr>
        <p:spPr>
          <a:xfrm>
            <a:off x="1026967" y="1925600"/>
            <a:ext cx="1753200" cy="17532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48"/>
          <p:cNvSpPr txBox="1"/>
          <p:nvPr>
            <p:ph idx="5" type="title"/>
          </p:nvPr>
        </p:nvSpPr>
        <p:spPr>
          <a:xfrm>
            <a:off x="3763567" y="3820400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333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63" name="Google Shape;63;p48"/>
          <p:cNvSpPr txBox="1"/>
          <p:nvPr>
            <p:ph idx="6" type="title"/>
          </p:nvPr>
        </p:nvSpPr>
        <p:spPr>
          <a:xfrm>
            <a:off x="3763567" y="4087633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Light"/>
              <a:buNone/>
              <a:defRPr b="0" i="1" sz="1333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64" name="Google Shape;64;p48"/>
          <p:cNvSpPr/>
          <p:nvPr>
            <p:ph idx="7" type="pic"/>
          </p:nvPr>
        </p:nvSpPr>
        <p:spPr>
          <a:xfrm>
            <a:off x="3763567" y="1925600"/>
            <a:ext cx="1753200" cy="17532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48"/>
          <p:cNvSpPr txBox="1"/>
          <p:nvPr>
            <p:ph idx="8" type="title"/>
          </p:nvPr>
        </p:nvSpPr>
        <p:spPr>
          <a:xfrm>
            <a:off x="9236767" y="3820400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333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66" name="Google Shape;66;p48"/>
          <p:cNvSpPr txBox="1"/>
          <p:nvPr>
            <p:ph idx="9" type="title"/>
          </p:nvPr>
        </p:nvSpPr>
        <p:spPr>
          <a:xfrm>
            <a:off x="9236767" y="4087633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Light"/>
              <a:buNone/>
              <a:defRPr b="0" i="1" sz="1333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67" name="Google Shape;67;p48"/>
          <p:cNvSpPr/>
          <p:nvPr>
            <p:ph idx="13" type="pic"/>
          </p:nvPr>
        </p:nvSpPr>
        <p:spPr>
          <a:xfrm>
            <a:off x="9236767" y="1925600"/>
            <a:ext cx="1753200" cy="17532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48"/>
          <p:cNvSpPr txBox="1"/>
          <p:nvPr>
            <p:ph idx="14" type="title"/>
          </p:nvPr>
        </p:nvSpPr>
        <p:spPr>
          <a:xfrm>
            <a:off x="6500151" y="3820400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333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69" name="Google Shape;69;p48"/>
          <p:cNvSpPr txBox="1"/>
          <p:nvPr>
            <p:ph idx="15" type="title"/>
          </p:nvPr>
        </p:nvSpPr>
        <p:spPr>
          <a:xfrm>
            <a:off x="6500151" y="4087633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Light"/>
              <a:buNone/>
              <a:defRPr b="0" i="1" sz="1333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0" name="Google Shape;70;p48"/>
          <p:cNvSpPr/>
          <p:nvPr>
            <p:ph idx="16" type="pic"/>
          </p:nvPr>
        </p:nvSpPr>
        <p:spPr>
          <a:xfrm>
            <a:off x="6500167" y="1925600"/>
            <a:ext cx="1753200" cy="17532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8"/>
          <p:cNvSpPr txBox="1"/>
          <p:nvPr>
            <p:ph idx="1" type="body"/>
          </p:nvPr>
        </p:nvSpPr>
        <p:spPr>
          <a:xfrm>
            <a:off x="1026967" y="4437633"/>
            <a:ext cx="17532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48"/>
          <p:cNvSpPr txBox="1"/>
          <p:nvPr>
            <p:ph idx="17" type="body"/>
          </p:nvPr>
        </p:nvSpPr>
        <p:spPr>
          <a:xfrm>
            <a:off x="3763567" y="4437633"/>
            <a:ext cx="17532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48"/>
          <p:cNvSpPr txBox="1"/>
          <p:nvPr>
            <p:ph idx="18" type="body"/>
          </p:nvPr>
        </p:nvSpPr>
        <p:spPr>
          <a:xfrm>
            <a:off x="6500167" y="4437633"/>
            <a:ext cx="17532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4" name="Google Shape;74;p48"/>
          <p:cNvSpPr txBox="1"/>
          <p:nvPr>
            <p:ph idx="19" type="body"/>
          </p:nvPr>
        </p:nvSpPr>
        <p:spPr>
          <a:xfrm>
            <a:off x="9236767" y="4437633"/>
            <a:ext cx="17532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red background&#10;&#10;Description automatically generated" id="81" name="Google Shape;81;g3f61faa959d_0_323"/>
          <p:cNvPicPr preferRelativeResize="0"/>
          <p:nvPr/>
        </p:nvPicPr>
        <p:blipFill rotWithShape="1">
          <a:blip r:embed="rId2">
            <a:alphaModFix/>
          </a:blip>
          <a:srcRect b="0" l="65507" r="0" t="39911"/>
          <a:stretch/>
        </p:blipFill>
        <p:spPr>
          <a:xfrm>
            <a:off x="7986532" y="2740694"/>
            <a:ext cx="4205468" cy="4117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g3f61faa959d_0_323"/>
          <p:cNvPicPr preferRelativeResize="0"/>
          <p:nvPr/>
        </p:nvPicPr>
        <p:blipFill rotWithShape="1">
          <a:blip r:embed="rId3">
            <a:alphaModFix/>
          </a:blip>
          <a:srcRect b="0" l="0" r="51988" t="0"/>
          <a:stretch/>
        </p:blipFill>
        <p:spPr>
          <a:xfrm rot="10800000">
            <a:off x="0" y="0"/>
            <a:ext cx="3070033" cy="925733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3f61faa959d_0_323"/>
          <p:cNvSpPr txBox="1"/>
          <p:nvPr>
            <p:ph type="ctrTitle"/>
          </p:nvPr>
        </p:nvSpPr>
        <p:spPr>
          <a:xfrm>
            <a:off x="415600" y="992767"/>
            <a:ext cx="7850100" cy="22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Roboto Serif SemiBold"/>
              <a:buNone/>
              <a:defRPr b="0" sz="6933">
                <a:latin typeface="Roboto Serif SemiBold"/>
                <a:ea typeface="Roboto Serif SemiBold"/>
                <a:cs typeface="Roboto Serif SemiBold"/>
                <a:sym typeface="Roboto Serif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/>
        </p:txBody>
      </p:sp>
      <p:sp>
        <p:nvSpPr>
          <p:cNvPr id="84" name="Google Shape;84;g3f61faa959d_0_323"/>
          <p:cNvSpPr txBox="1"/>
          <p:nvPr>
            <p:ph idx="1" type="subTitle"/>
          </p:nvPr>
        </p:nvSpPr>
        <p:spPr>
          <a:xfrm>
            <a:off x="415599" y="3429000"/>
            <a:ext cx="7850100" cy="18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733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/>
        </p:txBody>
      </p:sp>
      <p:sp>
        <p:nvSpPr>
          <p:cNvPr id="85" name="Google Shape;85;g3f61faa959d_0_32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None">
  <p:cSld name="Blank None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red background&#10;&#10;Description automatically generated" id="87" name="Google Shape;87;g3f61faa959d_0_3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0"/>
            <a:ext cx="1220284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3f61faa959d_0_32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g3f61faa959d_0_329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g3f61faa959d_0_329"/>
          <p:cNvSpPr/>
          <p:nvPr/>
        </p:nvSpPr>
        <p:spPr>
          <a:xfrm rot="5400000">
            <a:off x="-698228" y="4447290"/>
            <a:ext cx="3108900" cy="171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f61faa959d_0_329"/>
          <p:cNvSpPr txBox="1"/>
          <p:nvPr>
            <p:ph idx="1" type="body"/>
          </p:nvPr>
        </p:nvSpPr>
        <p:spPr>
          <a:xfrm>
            <a:off x="415599" y="1536633"/>
            <a:ext cx="78372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400"/>
              <a:buChar char="&gt;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Light"/>
              <a:buChar char="■"/>
              <a:defRPr sz="1600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None">
  <p:cSld name="1_Blank None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red background&#10;&#10;Description automatically generated" id="93" name="Google Shape;93;g3f61faa959d_0_3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190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f61faa959d_0_33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" name="Google Shape;95;g3f61faa959d_0_33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6" name="Google Shape;96;g3f61faa959d_0_335"/>
          <p:cNvSpPr/>
          <p:nvPr/>
        </p:nvSpPr>
        <p:spPr>
          <a:xfrm rot="5400000">
            <a:off x="-698228" y="4447290"/>
            <a:ext cx="3108900" cy="171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f61faa959d_0_335"/>
          <p:cNvSpPr txBox="1"/>
          <p:nvPr>
            <p:ph idx="1" type="body"/>
          </p:nvPr>
        </p:nvSpPr>
        <p:spPr>
          <a:xfrm>
            <a:off x="415599" y="1536633"/>
            <a:ext cx="78372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400"/>
              <a:buChar char="&gt;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Light"/>
              <a:buChar char="■"/>
              <a:defRPr sz="1600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None">
  <p:cSld name="1_Blank None 2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61faa959d_0_34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" name="Google Shape;100;g3f61faa959d_0_34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red background&#10;&#10;Description automatically generated" id="102" name="Google Shape;102;g3f61faa959d_0_344"/>
          <p:cNvPicPr preferRelativeResize="0"/>
          <p:nvPr/>
        </p:nvPicPr>
        <p:blipFill rotWithShape="1">
          <a:blip r:embed="rId2">
            <a:alphaModFix/>
          </a:blip>
          <a:srcRect b="0" l="65507" r="0" t="39911"/>
          <a:stretch/>
        </p:blipFill>
        <p:spPr>
          <a:xfrm rot="-5400000">
            <a:off x="8030613" y="44081"/>
            <a:ext cx="4205468" cy="4117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g3f61faa959d_0_344"/>
          <p:cNvPicPr preferRelativeResize="0"/>
          <p:nvPr/>
        </p:nvPicPr>
        <p:blipFill rotWithShape="1">
          <a:blip r:embed="rId3">
            <a:alphaModFix/>
          </a:blip>
          <a:srcRect b="0" l="0" r="51988" t="0"/>
          <a:stretch/>
        </p:blipFill>
        <p:spPr>
          <a:xfrm rot="5400000">
            <a:off x="-1072150" y="4860117"/>
            <a:ext cx="3070033" cy="92573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3f61faa959d_0_344"/>
          <p:cNvSpPr txBox="1"/>
          <p:nvPr>
            <p:ph type="ctrTitle"/>
          </p:nvPr>
        </p:nvSpPr>
        <p:spPr>
          <a:xfrm>
            <a:off x="633046" y="2296608"/>
            <a:ext cx="9043500" cy="22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Roboto Serif SemiBold"/>
              <a:buNone/>
              <a:defRPr b="0" sz="6933">
                <a:latin typeface="Roboto Serif SemiBold"/>
                <a:ea typeface="Roboto Serif SemiBold"/>
                <a:cs typeface="Roboto Serif SemiBold"/>
                <a:sym typeface="Roboto Serif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/>
        </p:txBody>
      </p:sp>
      <p:sp>
        <p:nvSpPr>
          <p:cNvPr id="105" name="Google Shape;105;g3f61faa959d_0_344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61faa959d_0_34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g3f61faa959d_0_349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61faa959d_0_35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" name="Google Shape;111;g3f61faa959d_0_352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400"/>
              <a:buChar char="&gt;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Light"/>
              <a:buChar char="■"/>
              <a:defRPr sz="1600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112" name="Google Shape;112;g3f61faa959d_0_352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400"/>
              <a:buChar char="&gt;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113" name="Google Shape;113;g3f61faa959d_0_352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61faa959d_0_357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g3f61faa959d_0_35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61faa959d_0_360"/>
          <p:cNvSpPr txBox="1"/>
          <p:nvPr>
            <p:ph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/>
        </p:txBody>
      </p:sp>
      <p:sp>
        <p:nvSpPr>
          <p:cNvPr id="119" name="Google Shape;119;g3f61faa959d_0_360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&gt;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0" name="Google Shape;120;g3f61faa959d_0_36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61faa959d_0_364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ight Blank">
  <p:cSld name="Right Blank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61faa959d_0_36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" name="Google Shape;125;g3f61faa959d_0_366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6" name="Google Shape;126;g3f61faa959d_0_366"/>
          <p:cNvSpPr/>
          <p:nvPr/>
        </p:nvSpPr>
        <p:spPr>
          <a:xfrm rot="5400000">
            <a:off x="-698228" y="4447290"/>
            <a:ext cx="3108900" cy="171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Photos">
  <p:cSld name="Team Photos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61faa959d_0_37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29" name="Google Shape;129;g3f61faa959d_0_370"/>
          <p:cNvSpPr txBox="1"/>
          <p:nvPr>
            <p:ph idx="2" type="title"/>
          </p:nvPr>
        </p:nvSpPr>
        <p:spPr>
          <a:xfrm>
            <a:off x="1026967" y="3820400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333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30" name="Google Shape;130;g3f61faa959d_0_370"/>
          <p:cNvSpPr txBox="1"/>
          <p:nvPr>
            <p:ph idx="3" type="title"/>
          </p:nvPr>
        </p:nvSpPr>
        <p:spPr>
          <a:xfrm>
            <a:off x="1026967" y="4087633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Light"/>
              <a:buNone/>
              <a:defRPr b="0" i="1" sz="1333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31" name="Google Shape;131;g3f61faa959d_0_370"/>
          <p:cNvSpPr/>
          <p:nvPr>
            <p:ph idx="4" type="pic"/>
          </p:nvPr>
        </p:nvSpPr>
        <p:spPr>
          <a:xfrm>
            <a:off x="1026967" y="1925600"/>
            <a:ext cx="1753200" cy="17532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f61faa959d_0_370"/>
          <p:cNvSpPr txBox="1"/>
          <p:nvPr>
            <p:ph idx="5" type="title"/>
          </p:nvPr>
        </p:nvSpPr>
        <p:spPr>
          <a:xfrm>
            <a:off x="3763567" y="3820400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333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33" name="Google Shape;133;g3f61faa959d_0_370"/>
          <p:cNvSpPr txBox="1"/>
          <p:nvPr>
            <p:ph idx="6" type="title"/>
          </p:nvPr>
        </p:nvSpPr>
        <p:spPr>
          <a:xfrm>
            <a:off x="3763567" y="4087633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Light"/>
              <a:buNone/>
              <a:defRPr b="0" i="1" sz="1333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34" name="Google Shape;134;g3f61faa959d_0_370"/>
          <p:cNvSpPr/>
          <p:nvPr>
            <p:ph idx="7" type="pic"/>
          </p:nvPr>
        </p:nvSpPr>
        <p:spPr>
          <a:xfrm>
            <a:off x="3763567" y="1925600"/>
            <a:ext cx="1753200" cy="17532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f61faa959d_0_370"/>
          <p:cNvSpPr txBox="1"/>
          <p:nvPr>
            <p:ph idx="8" type="title"/>
          </p:nvPr>
        </p:nvSpPr>
        <p:spPr>
          <a:xfrm>
            <a:off x="9236767" y="3820400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333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36" name="Google Shape;136;g3f61faa959d_0_370"/>
          <p:cNvSpPr txBox="1"/>
          <p:nvPr>
            <p:ph idx="9" type="title"/>
          </p:nvPr>
        </p:nvSpPr>
        <p:spPr>
          <a:xfrm>
            <a:off x="9236767" y="4087633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Light"/>
              <a:buNone/>
              <a:defRPr b="0" i="1" sz="1333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37" name="Google Shape;137;g3f61faa959d_0_370"/>
          <p:cNvSpPr/>
          <p:nvPr>
            <p:ph idx="13" type="pic"/>
          </p:nvPr>
        </p:nvSpPr>
        <p:spPr>
          <a:xfrm>
            <a:off x="9236767" y="1925600"/>
            <a:ext cx="1753200" cy="17532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f61faa959d_0_370"/>
          <p:cNvSpPr txBox="1"/>
          <p:nvPr>
            <p:ph idx="14" type="title"/>
          </p:nvPr>
        </p:nvSpPr>
        <p:spPr>
          <a:xfrm>
            <a:off x="6500151" y="3820400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333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39" name="Google Shape;139;g3f61faa959d_0_370"/>
          <p:cNvSpPr txBox="1"/>
          <p:nvPr>
            <p:ph idx="15" type="title"/>
          </p:nvPr>
        </p:nvSpPr>
        <p:spPr>
          <a:xfrm>
            <a:off x="6500151" y="4087633"/>
            <a:ext cx="17532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Light"/>
              <a:buNone/>
              <a:defRPr b="0" i="1" sz="1333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40" name="Google Shape;140;g3f61faa959d_0_370"/>
          <p:cNvSpPr/>
          <p:nvPr>
            <p:ph idx="16" type="pic"/>
          </p:nvPr>
        </p:nvSpPr>
        <p:spPr>
          <a:xfrm>
            <a:off x="6500167" y="1925600"/>
            <a:ext cx="1753200" cy="17532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f61faa959d_0_370"/>
          <p:cNvSpPr txBox="1"/>
          <p:nvPr>
            <p:ph idx="1" type="body"/>
          </p:nvPr>
        </p:nvSpPr>
        <p:spPr>
          <a:xfrm>
            <a:off x="1026967" y="4437633"/>
            <a:ext cx="17532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2" name="Google Shape;142;g3f61faa959d_0_370"/>
          <p:cNvSpPr txBox="1"/>
          <p:nvPr>
            <p:ph idx="17" type="body"/>
          </p:nvPr>
        </p:nvSpPr>
        <p:spPr>
          <a:xfrm>
            <a:off x="3763567" y="4437633"/>
            <a:ext cx="17532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3" name="Google Shape;143;g3f61faa959d_0_370"/>
          <p:cNvSpPr txBox="1"/>
          <p:nvPr>
            <p:ph idx="18" type="body"/>
          </p:nvPr>
        </p:nvSpPr>
        <p:spPr>
          <a:xfrm>
            <a:off x="6500167" y="4437633"/>
            <a:ext cx="17532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4" name="Google Shape;144;g3f61faa959d_0_370"/>
          <p:cNvSpPr txBox="1"/>
          <p:nvPr>
            <p:ph idx="19" type="body"/>
          </p:nvPr>
        </p:nvSpPr>
        <p:spPr>
          <a:xfrm>
            <a:off x="9236767" y="4437633"/>
            <a:ext cx="17532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6"/>
          <p:cNvSpPr txBox="1"/>
          <p:nvPr>
            <p:ph idx="1" type="body"/>
          </p:nvPr>
        </p:nvSpPr>
        <p:spPr>
          <a:xfrm>
            <a:off x="415600" y="1536633"/>
            <a:ext cx="11361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oboto Medium"/>
              <a:buChar char="●"/>
              <a:defRPr b="0" i="0" sz="1800" u="none" cap="none" strike="noStrike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  <a:defRPr b="0" i="0" sz="1867" u="none" cap="none" strike="noStrike">
                <a:solidFill>
                  <a:schemeClr val="accent3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 Light"/>
              <a:buChar char="■"/>
              <a:defRPr b="0" i="0" sz="1867" u="none" cap="none" strike="noStrike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36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3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167041" y="94400"/>
            <a:ext cx="2946593" cy="7636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61faa959d_0_31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g3f61faa959d_0_318"/>
          <p:cNvSpPr txBox="1"/>
          <p:nvPr>
            <p:ph idx="1" type="body"/>
          </p:nvPr>
        </p:nvSpPr>
        <p:spPr>
          <a:xfrm>
            <a:off x="415600" y="1536633"/>
            <a:ext cx="11361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oboto Medium"/>
              <a:buChar char="●"/>
              <a:defRPr b="0" i="0" sz="1800" u="none" cap="none" strike="noStrike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  <a:defRPr b="0" i="0" sz="1867" u="none" cap="none" strike="noStrike">
                <a:solidFill>
                  <a:schemeClr val="accent3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 Light"/>
              <a:buChar char="■"/>
              <a:defRPr b="0" i="0" sz="1867" u="none" cap="none" strike="noStrike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867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8" name="Google Shape;78;g3f61faa959d_0_31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9" name="Google Shape;79;g3f61faa959d_0_31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167041" y="94400"/>
            <a:ext cx="2946593" cy="7636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ode.visualstudio.com/" TargetMode="External"/><Relationship Id="rId4" Type="http://schemas.openxmlformats.org/officeDocument/2006/relationships/hyperlink" Target="https://www.jetbrains.com/idea/" TargetMode="External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6.png"/><Relationship Id="rId5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23.png"/><Relationship Id="rId5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Relationship Id="rId4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www.jetbrains.com/idea/" TargetMode="External"/><Relationship Id="rId4" Type="http://schemas.openxmlformats.org/officeDocument/2006/relationships/hyperlink" Target="https://code.visualstudio.com/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Relationship Id="rId4" Type="http://schemas.openxmlformats.org/officeDocument/2006/relationships/image" Target="../media/image12.png"/><Relationship Id="rId5" Type="http://schemas.openxmlformats.org/officeDocument/2006/relationships/image" Target="../media/image18.png"/><Relationship Id="rId6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"/>
          <p:cNvSpPr txBox="1"/>
          <p:nvPr/>
        </p:nvSpPr>
        <p:spPr>
          <a:xfrm>
            <a:off x="415600" y="992767"/>
            <a:ext cx="7850100" cy="22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33"/>
              <a:buFont typeface="Arial"/>
              <a:buNone/>
            </a:pPr>
            <a:r>
              <a:rPr lang="en-GB" sz="6933">
                <a:solidFill>
                  <a:srgbClr val="FFFFFF"/>
                </a:solidFill>
                <a:latin typeface="Roboto Serif SemiBold"/>
                <a:ea typeface="Roboto Serif SemiBold"/>
                <a:cs typeface="Roboto Serif SemiBold"/>
                <a:sym typeface="Roboto Serif SemiBold"/>
              </a:rPr>
              <a:t>Development Environments </a:t>
            </a:r>
            <a:endParaRPr b="0" i="0" sz="6933" u="none" cap="none" strike="noStrike">
              <a:solidFill>
                <a:srgbClr val="FFFFFF"/>
              </a:solidFill>
              <a:latin typeface="Roboto Serif SemiBold"/>
              <a:ea typeface="Roboto Serif SemiBold"/>
              <a:cs typeface="Roboto Serif SemiBold"/>
              <a:sym typeface="Roboto Serif SemiBold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415600" y="3429000"/>
            <a:ext cx="8134200" cy="18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3733"/>
              <a:buFont typeface="Arial"/>
              <a:buNone/>
            </a:pPr>
            <a:r>
              <a:rPr b="0" i="0" lang="en-GB" sz="3733" u="none" cap="none" strike="noStrike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E</a:t>
            </a:r>
            <a:r>
              <a:rPr b="0" i="0" lang="en-GB" sz="3733" u="none" cap="none" strike="noStrike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nables Efficient Coding</a:t>
            </a:r>
            <a:br>
              <a:rPr b="0" i="0" lang="en-GB" sz="3733" u="none" cap="none" strike="noStrike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</a:br>
            <a:endParaRPr b="0" i="0" sz="3733" u="none" cap="none" strike="noStrike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955a53f18_0_67"/>
          <p:cNvSpPr txBox="1"/>
          <p:nvPr/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b="1" lang="en-GB"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are Development Environments?</a:t>
            </a:r>
            <a:endParaRPr b="1" sz="2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g3f955a53f18_0_67"/>
          <p:cNvSpPr txBox="1"/>
          <p:nvPr/>
        </p:nvSpPr>
        <p:spPr>
          <a:xfrm>
            <a:off x="415600" y="1536625"/>
            <a:ext cx="5512800" cy="4555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-330200" lvl="0" marL="457200" rtl="0" algn="l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“A development environment is a set of tools for developing software” - by ./missing-semester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rtl="0" algn="l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They come in two strands: Integrated Development Environments (IDEs) and terminal-based workflows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Today we will be introducing Vim as a terminal-based workflow and VS Code as a convenient IDE  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955a53f18_0_32"/>
          <p:cNvSpPr txBox="1"/>
          <p:nvPr/>
        </p:nvSpPr>
        <p:spPr>
          <a:xfrm>
            <a:off x="415599" y="1536633"/>
            <a:ext cx="7837200" cy="4555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-330200" lvl="0" marL="457200" rtl="0" algn="l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Stands for “vi improved”, vi is a old text editor developed for Unix operating systems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rtl="0" algn="l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The idea behind it is to allow users to edit text fast without switching between mouse and keyboard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rtl="0" algn="l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You will need it in situations where you don’t have access to IDEs (e.g. terminal-only virtual machines if you take the Operating Systems course!)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62" name="Google Shape;162;g3f955a53f18_0_32"/>
          <p:cNvSpPr txBox="1"/>
          <p:nvPr/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GB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About Vim</a:t>
            </a:r>
            <a:endParaRPr b="1" i="0" sz="2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3" name="Google Shape;163;g3f955a53f18_0_32" title="vim-ligh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97775" y="1981876"/>
            <a:ext cx="2894225" cy="28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60dfddb1a_0_6"/>
          <p:cNvSpPr txBox="1"/>
          <p:nvPr/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b="1" lang="en-GB"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are Development Environments?</a:t>
            </a:r>
            <a:endParaRPr b="1" sz="2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g3f60dfddb1a_0_6"/>
          <p:cNvSpPr txBox="1"/>
          <p:nvPr/>
        </p:nvSpPr>
        <p:spPr>
          <a:xfrm>
            <a:off x="90725" y="1536625"/>
            <a:ext cx="5972100" cy="5176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-330200" lvl="0" marL="457200" rtl="0" algn="l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Vim has different operating modes for different type of tasks: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Normal: for moving around &amp; editing in a file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Insert: for interesting text (i)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Replace: for replacing text (R)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Visual: for selecting blocks of text (v/Ctrl-V)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Command-line: for running a (vim) command (:)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You can switch back to Normal mode by pressing &lt;ESC&gt;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70" name="Google Shape;170;g3f60dfddb1a_0_6"/>
          <p:cNvSpPr/>
          <p:nvPr/>
        </p:nvSpPr>
        <p:spPr>
          <a:xfrm>
            <a:off x="9615725" y="3096300"/>
            <a:ext cx="2041200" cy="665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Normal</a:t>
            </a:r>
            <a:endParaRPr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71" name="Google Shape;171;g3f60dfddb1a_0_6"/>
          <p:cNvSpPr/>
          <p:nvPr/>
        </p:nvSpPr>
        <p:spPr>
          <a:xfrm>
            <a:off x="6425588" y="3096288"/>
            <a:ext cx="2041200" cy="665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Command</a:t>
            </a:r>
            <a:endParaRPr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72" name="Google Shape;172;g3f60dfddb1a_0_6"/>
          <p:cNvSpPr/>
          <p:nvPr/>
        </p:nvSpPr>
        <p:spPr>
          <a:xfrm>
            <a:off x="9615725" y="871213"/>
            <a:ext cx="2041200" cy="665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Insert</a:t>
            </a:r>
            <a:endParaRPr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73" name="Google Shape;173;g3f60dfddb1a_0_6"/>
          <p:cNvSpPr/>
          <p:nvPr/>
        </p:nvSpPr>
        <p:spPr>
          <a:xfrm>
            <a:off x="9615725" y="5501125"/>
            <a:ext cx="2041200" cy="665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Visual</a:t>
            </a:r>
            <a:endParaRPr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74" name="Google Shape;174;g3f60dfddb1a_0_6"/>
          <p:cNvCxnSpPr>
            <a:stCxn id="170" idx="0"/>
            <a:endCxn id="171" idx="0"/>
          </p:cNvCxnSpPr>
          <p:nvPr/>
        </p:nvCxnSpPr>
        <p:spPr>
          <a:xfrm rot="5400000">
            <a:off x="9040925" y="1501500"/>
            <a:ext cx="600" cy="3190200"/>
          </a:xfrm>
          <a:prstGeom prst="curvedConnector3">
            <a:avLst>
              <a:gd fmla="val -3968958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5" name="Google Shape;175;g3f60dfddb1a_0_6"/>
          <p:cNvSpPr/>
          <p:nvPr/>
        </p:nvSpPr>
        <p:spPr>
          <a:xfrm>
            <a:off x="8844725" y="2332488"/>
            <a:ext cx="393000" cy="45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:</a:t>
            </a:r>
            <a:endParaRPr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76" name="Google Shape;176;g3f60dfddb1a_0_6"/>
          <p:cNvCxnSpPr>
            <a:stCxn id="171" idx="2"/>
            <a:endCxn id="170" idx="2"/>
          </p:cNvCxnSpPr>
          <p:nvPr/>
        </p:nvCxnSpPr>
        <p:spPr>
          <a:xfrm flipH="1" rot="-5400000">
            <a:off x="9040988" y="2166888"/>
            <a:ext cx="600" cy="3190200"/>
          </a:xfrm>
          <a:prstGeom prst="curvedConnector3">
            <a:avLst>
              <a:gd fmla="val 3968958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7" name="Google Shape;177;g3f60dfddb1a_0_6"/>
          <p:cNvSpPr/>
          <p:nvPr/>
        </p:nvSpPr>
        <p:spPr>
          <a:xfrm>
            <a:off x="8746475" y="4090525"/>
            <a:ext cx="589500" cy="45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Esc</a:t>
            </a:r>
            <a:endParaRPr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78" name="Google Shape;178;g3f60dfddb1a_0_6"/>
          <p:cNvCxnSpPr>
            <a:stCxn id="170" idx="0"/>
            <a:endCxn id="172" idx="2"/>
          </p:cNvCxnSpPr>
          <p:nvPr/>
        </p:nvCxnSpPr>
        <p:spPr>
          <a:xfrm rot="-5400000">
            <a:off x="9856775" y="2316150"/>
            <a:ext cx="1559700" cy="6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79" name="Google Shape;179;g3f60dfddb1a_0_6"/>
          <p:cNvSpPr/>
          <p:nvPr/>
        </p:nvSpPr>
        <p:spPr>
          <a:xfrm>
            <a:off x="10742325" y="2468550"/>
            <a:ext cx="589500" cy="45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Esc</a:t>
            </a:r>
            <a:endParaRPr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80" name="Google Shape;180;g3f60dfddb1a_0_6"/>
          <p:cNvSpPr/>
          <p:nvPr/>
        </p:nvSpPr>
        <p:spPr>
          <a:xfrm>
            <a:off x="9760025" y="1739750"/>
            <a:ext cx="793200" cy="45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GB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nsert</a:t>
            </a:r>
            <a:endParaRPr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81" name="Google Shape;181;g3f60dfddb1a_0_6"/>
          <p:cNvCxnSpPr>
            <a:stCxn id="170" idx="2"/>
            <a:endCxn id="173" idx="0"/>
          </p:cNvCxnSpPr>
          <p:nvPr/>
        </p:nvCxnSpPr>
        <p:spPr>
          <a:xfrm flipH="1" rot="-5400000">
            <a:off x="9766925" y="4631100"/>
            <a:ext cx="1739400" cy="600"/>
          </a:xfrm>
          <a:prstGeom prst="curved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82" name="Google Shape;182;g3f60dfddb1a_0_6"/>
          <p:cNvSpPr/>
          <p:nvPr/>
        </p:nvSpPr>
        <p:spPr>
          <a:xfrm>
            <a:off x="10742325" y="3935850"/>
            <a:ext cx="589500" cy="45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Esc</a:t>
            </a:r>
            <a:endParaRPr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83" name="Google Shape;183;g3f60dfddb1a_0_6"/>
          <p:cNvSpPr/>
          <p:nvPr/>
        </p:nvSpPr>
        <p:spPr>
          <a:xfrm>
            <a:off x="9760025" y="4855500"/>
            <a:ext cx="793200" cy="45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v</a:t>
            </a:r>
            <a:r>
              <a:rPr lang="en-GB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isual</a:t>
            </a:r>
            <a:endParaRPr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955a53f18_0_81"/>
          <p:cNvSpPr txBox="1"/>
          <p:nvPr/>
        </p:nvSpPr>
        <p:spPr>
          <a:xfrm>
            <a:off x="415599" y="1536633"/>
            <a:ext cx="7837200" cy="4555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-330200" lvl="0" marL="457200" rtl="0" algn="l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In order to save your changes, etc., you will need to run some commands in the command-line mode: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(:)w - save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(:)q - quit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(:)wq - save and quite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(:)q! - quit without saving, esp when you are trapped in Vim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You can also think of Vim as a programming language, and it provides many more powerful features that allow you to edit a file </a:t>
            </a: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really</a:t>
            </a: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fast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https://missing.csail.mit.edu/2026/development-environment/#text-editing-and-vim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89" name="Google Shape;189;g3f955a53f18_0_81"/>
          <p:cNvSpPr txBox="1"/>
          <p:nvPr/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GB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Vim basics - Useful commands</a:t>
            </a:r>
            <a:endParaRPr b="1" i="0" sz="2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"/>
          <p:cNvSpPr txBox="1"/>
          <p:nvPr/>
        </p:nvSpPr>
        <p:spPr>
          <a:xfrm>
            <a:off x="415600" y="1536624"/>
            <a:ext cx="7837200" cy="490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4"/>
              </a:srgbClr>
            </a:outerShdw>
          </a:effectLst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An IDE brings the following functionalities into one application: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Syntax highlighting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Type checking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Code formatting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Autocomplete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etc.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Commonly used ones: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VS Code - Good for daily programming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 Medium"/>
              <a:buChar char="■"/>
            </a:pPr>
            <a:r>
              <a:rPr lang="en-GB" sz="2400" u="sng">
                <a:solidFill>
                  <a:schemeClr val="accent4"/>
                </a:solidFill>
                <a:latin typeface="Roboto Medium"/>
                <a:ea typeface="Roboto Medium"/>
                <a:cs typeface="Roboto Medium"/>
                <a:sym typeface="Roboto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https://code.visualstudio.com/</a:t>
            </a:r>
            <a:endParaRPr sz="2400">
              <a:solidFill>
                <a:schemeClr val="accent4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IntelliJ - You will need it for your Java courses!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 Medium"/>
              <a:buChar char="■"/>
            </a:pPr>
            <a:r>
              <a:rPr lang="en-GB" sz="2400" u="sng">
                <a:solidFill>
                  <a:schemeClr val="accent4"/>
                </a:solidFill>
                <a:latin typeface="Roboto Medium"/>
                <a:ea typeface="Roboto Medium"/>
                <a:cs typeface="Roboto Medium"/>
                <a:sym typeface="Roboto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https://www.jetbrains.com/idea/</a:t>
            </a:r>
            <a:endParaRPr sz="2400">
              <a:solidFill>
                <a:schemeClr val="accent4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95" name="Google Shape;195;p4"/>
          <p:cNvSpPr txBox="1"/>
          <p:nvPr/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GB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What are</a:t>
            </a:r>
            <a:r>
              <a:rPr b="1" i="0" lang="en-GB" sz="2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IDEs </a:t>
            </a:r>
            <a:endParaRPr b="1" i="0" sz="2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6" name="Google Shape;19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27425" y="3660600"/>
            <a:ext cx="2000250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4" title="527-5279597_intellij-idea-logo-png-transparent-png-3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77874" y="1031217"/>
            <a:ext cx="3621501" cy="2863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60dfddb1a_0_91"/>
          <p:cNvSpPr txBox="1"/>
          <p:nvPr/>
        </p:nvSpPr>
        <p:spPr>
          <a:xfrm>
            <a:off x="415599" y="1536633"/>
            <a:ext cx="7837200" cy="4555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IDE is only an editor, and it cannot run you code directly. You will need to download the language compiler/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interpreter.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Language 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specific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 supports are offered by IDE extensions that 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implement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Language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 Server 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Protocol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. You can download them in VS Code.</a:t>
            </a:r>
            <a:endParaRPr b="0" i="0" sz="2400" u="none" cap="none" strike="noStrike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03" name="Google Shape;203;g3f60dfddb1a_0_91"/>
          <p:cNvSpPr txBox="1"/>
          <p:nvPr/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GB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Besides the IDE…</a:t>
            </a:r>
            <a:endParaRPr b="1" i="0" sz="2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60dfddb1a_0_171"/>
          <p:cNvSpPr txBox="1"/>
          <p:nvPr>
            <p:ph type="ctrTitle"/>
          </p:nvPr>
        </p:nvSpPr>
        <p:spPr>
          <a:xfrm>
            <a:off x="633046" y="2296608"/>
            <a:ext cx="9043500" cy="22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2545"/>
              <a:buFont typeface="Roboto Serif SemiBold"/>
              <a:buNone/>
            </a:pPr>
            <a:r>
              <a:rPr lang="en-GB"/>
              <a:t>Commonly Used Features</a:t>
            </a:r>
            <a:endParaRPr/>
          </a:p>
        </p:txBody>
      </p:sp>
      <p:sp>
        <p:nvSpPr>
          <p:cNvPr id="209" name="Google Shape;209;g3f60dfddb1a_0_171"/>
          <p:cNvSpPr txBox="1"/>
          <p:nvPr/>
        </p:nvSpPr>
        <p:spPr>
          <a:xfrm>
            <a:off x="785446" y="4561391"/>
            <a:ext cx="9043500" cy="22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Roboto Serif SemiBold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 Serif SemiBold"/>
                <a:ea typeface="Roboto Serif SemiBold"/>
                <a:cs typeface="Roboto Serif SemiBold"/>
                <a:sym typeface="Roboto Serif SemiBold"/>
              </a:rPr>
              <a:t>If you need any help, do not hesitate to ask!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"/>
          <p:cNvSpPr txBox="1"/>
          <p:nvPr/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GB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Search/Find Reference/Go to Definitions</a:t>
            </a:r>
            <a:endParaRPr b="1" i="0" sz="2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8"/>
          <p:cNvSpPr txBox="1"/>
          <p:nvPr/>
        </p:nvSpPr>
        <p:spPr>
          <a:xfrm>
            <a:off x="415600" y="1537200"/>
            <a:ext cx="6374700" cy="4222800"/>
          </a:xfrm>
          <a:prstGeom prst="rect">
            <a:avLst/>
          </a:prstGeom>
          <a:noFill/>
          <a:ln>
            <a:noFill/>
          </a:ln>
          <a:effectLst>
            <a:outerShdw blurRad="342900" rotWithShape="0" algn="bl" dir="3000000" dist="9525">
              <a:srgbClr val="000000">
                <a:alpha val="49804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There are </a:t>
            </a: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several</a:t>
            </a: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ways: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Right click a symbol, and the options pops up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Use Cmd/Ctrl + Click on a symbol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Use the search functionality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This is very helpful when you have a large code base to deal with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216" name="Google Shape;21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1625" y="1760887"/>
            <a:ext cx="5337900" cy="3336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7" name="Google Shape;21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2003279">
            <a:off x="10782375" y="4305125"/>
            <a:ext cx="979500" cy="97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60dfddb1a_0_246"/>
          <p:cNvSpPr txBox="1"/>
          <p:nvPr/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GB" sz="2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Code Refactoring</a:t>
            </a:r>
            <a:endParaRPr b="1" i="0" sz="2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g3f60dfddb1a_0_246"/>
          <p:cNvSpPr txBox="1"/>
          <p:nvPr/>
        </p:nvSpPr>
        <p:spPr>
          <a:xfrm>
            <a:off x="415600" y="1537200"/>
            <a:ext cx="6374700" cy="4222800"/>
          </a:xfrm>
          <a:prstGeom prst="rect">
            <a:avLst/>
          </a:prstGeom>
          <a:noFill/>
          <a:ln>
            <a:noFill/>
          </a:ln>
          <a:effectLst>
            <a:outerShdw blurRad="342900" rotWithShape="0" algn="bl" dir="3000000" dist="9525">
              <a:srgbClr val="000000">
                <a:alpha val="498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Refactoring typically includes:</a:t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Roboto Medium"/>
              <a:buChar char="○"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Rename a symbol for its all occurrences </a:t>
            </a:r>
            <a:endParaRPr b="0" i="0" sz="20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Roboto Medium"/>
              <a:buChar char="○"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Extract constants</a:t>
            </a:r>
            <a:endParaRPr b="0" i="0" sz="20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Roboto Medium"/>
              <a:buChar char="○"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Extract variables</a:t>
            </a:r>
            <a:endParaRPr b="0" i="0" sz="20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Roboto Medium"/>
              <a:buChar char="○"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Extract methods</a:t>
            </a:r>
            <a:endParaRPr b="0" i="0" sz="20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b="0" i="0" lang="en-GB" sz="24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You can do this by selecting a text section</a:t>
            </a: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, click the lightbulb icon or just </a:t>
            </a: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select</a:t>
            </a: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‘Refactor’ after right clicking</a:t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224" name="Google Shape;224;g3f60dfddb1a_0_2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0300" y="696306"/>
            <a:ext cx="4977900" cy="3111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5" name="Google Shape;225;g3f60dfddb1a_0_2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90138" y="3434175"/>
            <a:ext cx="4978200" cy="3111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6" name="Google Shape;226;g3f60dfddb1a_0_2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2003279">
            <a:off x="11087450" y="5689825"/>
            <a:ext cx="979500" cy="97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60dfddb1a_0_259"/>
          <p:cNvSpPr txBox="1"/>
          <p:nvPr/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GB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Running Code</a:t>
            </a:r>
            <a:endParaRPr b="1" i="0" sz="2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g3f60dfddb1a_0_259"/>
          <p:cNvSpPr txBox="1"/>
          <p:nvPr/>
        </p:nvSpPr>
        <p:spPr>
          <a:xfrm>
            <a:off x="415600" y="1537200"/>
            <a:ext cx="6374700" cy="4222800"/>
          </a:xfrm>
          <a:prstGeom prst="rect">
            <a:avLst/>
          </a:prstGeom>
          <a:noFill/>
          <a:ln>
            <a:noFill/>
          </a:ln>
          <a:effectLst>
            <a:outerShdw blurRad="342900" rotWithShape="0" algn="bl" dir="3000000" dist="9525">
              <a:srgbClr val="000000">
                <a:alpha val="498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You can customize how to run your code by modifying launch.json</a:t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Roboto Medium"/>
              <a:buChar char="○"/>
            </a:pPr>
            <a:r>
              <a:rPr lang="en-GB" sz="2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What files to run</a:t>
            </a:r>
            <a:endParaRPr sz="20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556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Medium"/>
              <a:buChar char="○"/>
            </a:pPr>
            <a:r>
              <a:rPr lang="en-GB" sz="2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What command to use</a:t>
            </a:r>
            <a:endParaRPr sz="20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556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Medium"/>
              <a:buChar char="○"/>
            </a:pPr>
            <a:r>
              <a:rPr lang="en-GB" sz="2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What parameters to use</a:t>
            </a:r>
            <a:endParaRPr sz="20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556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Medium"/>
              <a:buChar char="○"/>
            </a:pPr>
            <a:r>
              <a:rPr lang="en-GB" sz="2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…</a:t>
            </a:r>
            <a:endParaRPr sz="20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This could be helpful when you are debugging your code</a:t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233" name="Google Shape;233;g3f60dfddb1a_0_2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2003279">
            <a:off x="5931575" y="5360200"/>
            <a:ext cx="979500" cy="9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g3f60dfddb1a_0_2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68450" y="762992"/>
            <a:ext cx="5097000" cy="3185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5" name="Google Shape;235;g3f60dfddb1a_0_2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68442" y="3342685"/>
            <a:ext cx="5097000" cy="3185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61faa959d_0_2"/>
          <p:cNvSpPr txBox="1"/>
          <p:nvPr/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GB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Debugging</a:t>
            </a:r>
            <a:endParaRPr b="1" i="0" sz="2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g3f61faa959d_0_2"/>
          <p:cNvSpPr txBox="1"/>
          <p:nvPr/>
        </p:nvSpPr>
        <p:spPr>
          <a:xfrm>
            <a:off x="415600" y="1537200"/>
            <a:ext cx="6374700" cy="4222800"/>
          </a:xfrm>
          <a:prstGeom prst="rect">
            <a:avLst/>
          </a:prstGeom>
          <a:noFill/>
          <a:ln>
            <a:noFill/>
          </a:ln>
          <a:effectLst>
            <a:outerShdw blurRad="342900" rotWithShape="0" algn="bl" dir="3000000" dist="9525">
              <a:srgbClr val="000000">
                <a:alpha val="498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Like other IDEs, VS Code has built-in support for debugging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We can add breakpoints (points where programm will be stopped), inspect values, and run programs step by step.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As shown, any runtime errors will be catched!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242" name="Google Shape;242;g3f61faa959d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2003279">
            <a:off x="6188925" y="4755450"/>
            <a:ext cx="979500" cy="9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g3f61faa959d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0475" y="1596100"/>
            <a:ext cx="5617800" cy="3511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9c64703a8e_0_85"/>
          <p:cNvSpPr txBox="1"/>
          <p:nvPr/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GB" sz="2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GUI for Version Controls</a:t>
            </a:r>
            <a:endParaRPr b="1" i="0" sz="2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g39c64703a8e_0_85"/>
          <p:cNvSpPr txBox="1"/>
          <p:nvPr/>
        </p:nvSpPr>
        <p:spPr>
          <a:xfrm>
            <a:off x="415600" y="1537200"/>
            <a:ext cx="7543200" cy="4222800"/>
          </a:xfrm>
          <a:prstGeom prst="rect">
            <a:avLst/>
          </a:prstGeom>
          <a:noFill/>
          <a:ln>
            <a:noFill/>
          </a:ln>
          <a:effectLst>
            <a:outerShdw blurRad="342900" rotWithShape="0" algn="bl" dir="3000000" dist="9525">
              <a:srgbClr val="000000">
                <a:alpha val="49804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b="0" i="0" lang="en-GB" sz="24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IDEs provide you with GUI for Git, so that you don’t have to remember all the commands</a:t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b="0" i="0" lang="en-GB" sz="24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In IDEs, you have</a:t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810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edium"/>
              <a:buChar char="○"/>
            </a:pPr>
            <a:r>
              <a:rPr b="0" i="0" lang="en-GB" sz="2400" u="none" cap="none" strike="noStrike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rPr>
              <a:t>Branch visualisation</a:t>
            </a:r>
            <a:endParaRPr b="0" i="0" sz="2400" u="none" cap="none" strike="noStrike">
              <a:solidFill>
                <a:schemeClr val="accen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810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edium"/>
              <a:buChar char="○"/>
            </a:pPr>
            <a:r>
              <a:rPr b="0" i="0" lang="en-GB" sz="2400" u="none" cap="none" strike="noStrike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rPr>
              <a:t>Easy commit and push</a:t>
            </a:r>
            <a:endParaRPr b="0" i="0" sz="2400" u="none" cap="none" strike="noStrike">
              <a:solidFill>
                <a:schemeClr val="accen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810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edium"/>
              <a:buChar char="○"/>
            </a:pPr>
            <a:r>
              <a:rPr b="0" i="0" lang="en-GB" sz="2400" u="none" cap="none" strike="noStrike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rPr>
              <a:t>Get an interface for code merging</a:t>
            </a:r>
            <a:endParaRPr b="0" i="0" sz="2400" u="none" cap="none" strike="noStrike">
              <a:solidFill>
                <a:schemeClr val="accen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250" name="Google Shape;250;g39c64703a8e_0_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6549" y="2201377"/>
            <a:ext cx="4980173" cy="3112602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9c64703a8e_0_94"/>
          <p:cNvSpPr txBox="1"/>
          <p:nvPr/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GB" sz="2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Setting Up Git In IDEs</a:t>
            </a:r>
            <a:endParaRPr b="1" i="0" sz="2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g39c64703a8e_0_94"/>
          <p:cNvSpPr txBox="1"/>
          <p:nvPr/>
        </p:nvSpPr>
        <p:spPr>
          <a:xfrm>
            <a:off x="415600" y="1537200"/>
            <a:ext cx="11360700" cy="4608000"/>
          </a:xfrm>
          <a:prstGeom prst="rect">
            <a:avLst/>
          </a:prstGeom>
          <a:noFill/>
          <a:ln>
            <a:noFill/>
          </a:ln>
          <a:effectLst>
            <a:outerShdw blurRad="342900" rotWithShape="0" algn="bl" dir="3000000" dist="9525">
              <a:srgbClr val="000000">
                <a:alpha val="49804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b="0" i="0" lang="en-GB" sz="24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Using VS Code, you can </a:t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810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 Medium"/>
              <a:buChar char="○"/>
            </a:pPr>
            <a:r>
              <a:rPr b="0" i="0" lang="en-GB" sz="24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Install Git (if you have not already do so)</a:t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810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 Medium"/>
              <a:buChar char="○"/>
            </a:pPr>
            <a:r>
              <a:rPr b="0" i="0" lang="en-GB" sz="24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In your terminal, config git</a:t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810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edium"/>
              <a:buChar char="■"/>
            </a:pPr>
            <a:r>
              <a:rPr b="0" i="0" lang="en-GB" sz="2400" u="none" cap="none" strike="noStrike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rPr>
              <a:t>git config --global user.name “name”</a:t>
            </a:r>
            <a:endParaRPr b="0" i="0" sz="2400" u="none" cap="none" strike="noStrike">
              <a:solidFill>
                <a:schemeClr val="accen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810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edium"/>
              <a:buChar char="■"/>
            </a:pPr>
            <a:r>
              <a:rPr b="0" i="0" lang="en-GB" sz="2400" u="none" cap="none" strike="noStrike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rPr>
              <a:t>git config --global user.email “email@exaple.com”</a:t>
            </a:r>
            <a:endParaRPr b="0" i="0" sz="2400" u="none" cap="none" strike="noStrike">
              <a:solidFill>
                <a:schemeClr val="accen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810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 Medium"/>
              <a:buChar char="○"/>
            </a:pPr>
            <a:r>
              <a:rPr b="0" i="0" lang="en-GB" sz="24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Then you can either:</a:t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810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edium"/>
              <a:buChar char="■"/>
            </a:pPr>
            <a:r>
              <a:rPr b="0" i="0" lang="en-GB" sz="2400" u="none" cap="none" strike="noStrike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rPr>
              <a:t>Clone a project from remote</a:t>
            </a:r>
            <a:endParaRPr b="0" i="0" sz="2400" u="none" cap="none" strike="noStrike">
              <a:solidFill>
                <a:schemeClr val="accen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810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edium"/>
              <a:buChar char="■"/>
            </a:pPr>
            <a:r>
              <a:rPr b="0" i="0" lang="en-GB" sz="2400" u="none" cap="none" strike="noStrike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rPr>
              <a:t>Open a local project and publish repository (set up git repo for you)</a:t>
            </a:r>
            <a:endParaRPr b="0" i="0" sz="2400" u="none" cap="none" strike="noStrike">
              <a:solidFill>
                <a:schemeClr val="accen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257" name="Google Shape;257;g39c64703a8e_0_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28150" y="1542175"/>
            <a:ext cx="1350575" cy="3773649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61faa959d_0_161"/>
          <p:cNvSpPr txBox="1"/>
          <p:nvPr>
            <p:ph type="ctrTitle"/>
          </p:nvPr>
        </p:nvSpPr>
        <p:spPr>
          <a:xfrm>
            <a:off x="861646" y="1458408"/>
            <a:ext cx="9043500" cy="22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Roboto Serif SemiBold"/>
              <a:buNone/>
            </a:pPr>
            <a:r>
              <a:rPr lang="en-GB"/>
              <a:t>EXERCISES</a:t>
            </a:r>
            <a:endParaRPr/>
          </a:p>
        </p:txBody>
      </p:sp>
      <p:sp>
        <p:nvSpPr>
          <p:cNvPr id="263" name="Google Shape;263;g3f61faa959d_0_161"/>
          <p:cNvSpPr txBox="1"/>
          <p:nvPr/>
        </p:nvSpPr>
        <p:spPr>
          <a:xfrm>
            <a:off x="1014046" y="3723191"/>
            <a:ext cx="9043500" cy="22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Roboto Serif SemiBold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 Serif SemiBold"/>
                <a:ea typeface="Roboto Serif SemiBold"/>
                <a:cs typeface="Roboto Serif SemiBold"/>
                <a:sym typeface="Roboto Serif SemiBold"/>
              </a:rPr>
              <a:t>Now we are going to put this into practice!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61faa959d_0_312"/>
          <p:cNvSpPr txBox="1"/>
          <p:nvPr>
            <p:ph type="title"/>
          </p:nvPr>
        </p:nvSpPr>
        <p:spPr>
          <a:xfrm>
            <a:off x="415600" y="212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Exercises</a:t>
            </a:r>
            <a:endParaRPr/>
          </a:p>
        </p:txBody>
      </p:sp>
      <p:sp>
        <p:nvSpPr>
          <p:cNvPr id="269" name="Google Shape;269;g3f61faa959d_0_312"/>
          <p:cNvSpPr txBox="1"/>
          <p:nvPr>
            <p:ph idx="1" type="body"/>
          </p:nvPr>
        </p:nvSpPr>
        <p:spPr>
          <a:xfrm>
            <a:off x="415599" y="774633"/>
            <a:ext cx="11360700" cy="47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48235" lvl="0" marL="596900" rtl="0" algn="l">
              <a:lnSpc>
                <a:spcPct val="95000"/>
              </a:lnSpc>
              <a:spcBef>
                <a:spcPts val="2000"/>
              </a:spcBef>
              <a:spcAft>
                <a:spcPts val="0"/>
              </a:spcAft>
              <a:buSzPts val="1259"/>
              <a:buFont typeface="Arial"/>
              <a:buAutoNum type="arabicPeriod"/>
            </a:pPr>
            <a:r>
              <a:rPr lang="en-GB" sz="1346">
                <a:solidFill>
                  <a:schemeClr val="lt1"/>
                </a:solidFill>
              </a:rPr>
              <a:t>Open VS Code and download Python extension</a:t>
            </a:r>
            <a:endParaRPr sz="1346"/>
          </a:p>
          <a:p>
            <a:pPr indent="-448235" lvl="0" marL="596900" rtl="0" algn="l">
              <a:lnSpc>
                <a:spcPct val="95000"/>
              </a:lnSpc>
              <a:spcBef>
                <a:spcPts val="2000"/>
              </a:spcBef>
              <a:spcAft>
                <a:spcPts val="0"/>
              </a:spcAft>
              <a:buSzPts val="1259"/>
              <a:buFont typeface="Arial"/>
              <a:buAutoNum type="arabicPeriod"/>
            </a:pPr>
            <a:r>
              <a:rPr lang="en-GB" sz="1346">
                <a:solidFill>
                  <a:schemeClr val="lt1"/>
                </a:solidFill>
              </a:rPr>
              <a:t>Open a terminal in VS Code, and clone the project &lt;link_to_be_updated&gt; to Desktop</a:t>
            </a:r>
            <a:endParaRPr sz="1346">
              <a:solidFill>
                <a:schemeClr val="lt1"/>
              </a:solidFill>
            </a:endParaRPr>
          </a:p>
          <a:p>
            <a:pPr indent="-448235" lvl="0" marL="596900" rtl="0" algn="l">
              <a:lnSpc>
                <a:spcPct val="95000"/>
              </a:lnSpc>
              <a:spcBef>
                <a:spcPts val="2000"/>
              </a:spcBef>
              <a:spcAft>
                <a:spcPts val="0"/>
              </a:spcAft>
              <a:buSzPts val="1259"/>
              <a:buFont typeface="Arial"/>
              <a:buAutoNum type="arabicPeriod"/>
            </a:pPr>
            <a:r>
              <a:rPr lang="en-GB" sz="1346">
                <a:solidFill>
                  <a:schemeClr val="lt1"/>
                </a:solidFill>
              </a:rPr>
              <a:t>Use the refactor functionality, extract all four other operators (+,-,*,/) into functions</a:t>
            </a:r>
            <a:endParaRPr sz="1346"/>
          </a:p>
          <a:p>
            <a:pPr indent="-448235" lvl="0" marL="596900" rtl="0" algn="l">
              <a:lnSpc>
                <a:spcPct val="95000"/>
              </a:lnSpc>
              <a:spcBef>
                <a:spcPts val="2000"/>
              </a:spcBef>
              <a:spcAft>
                <a:spcPts val="0"/>
              </a:spcAft>
              <a:buSzPts val="1259"/>
              <a:buFont typeface="Arial"/>
              <a:buAutoNum type="arabicPeriod"/>
            </a:pPr>
            <a:r>
              <a:rPr lang="en-GB" sz="1346">
                <a:solidFill>
                  <a:schemeClr val="lt1"/>
                </a:solidFill>
              </a:rPr>
              <a:t>Make sure those functions are named properly (add, minus, </a:t>
            </a:r>
            <a:r>
              <a:rPr lang="en-GB" sz="1346">
                <a:solidFill>
                  <a:schemeClr val="lt1"/>
                </a:solidFill>
              </a:rPr>
              <a:t>multiply</a:t>
            </a:r>
            <a:r>
              <a:rPr lang="en-GB" sz="1346">
                <a:solidFill>
                  <a:schemeClr val="lt1"/>
                </a:solidFill>
              </a:rPr>
              <a:t>, divide)</a:t>
            </a:r>
            <a:endParaRPr sz="1346"/>
          </a:p>
          <a:p>
            <a:pPr indent="-448235" lvl="0" marL="596900" rtl="0" algn="l">
              <a:lnSpc>
                <a:spcPct val="95000"/>
              </a:lnSpc>
              <a:spcBef>
                <a:spcPts val="2000"/>
              </a:spcBef>
              <a:spcAft>
                <a:spcPts val="0"/>
              </a:spcAft>
              <a:buSzPts val="1259"/>
              <a:buFont typeface="Arial"/>
              <a:buAutoNum type="arabicPeriod"/>
            </a:pPr>
            <a:r>
              <a:rPr lang="en-GB" sz="1346">
                <a:solidFill>
                  <a:schemeClr val="lt1"/>
                </a:solidFill>
              </a:rPr>
              <a:t>Add a breakpoint at line printing the result</a:t>
            </a:r>
            <a:endParaRPr sz="1346"/>
          </a:p>
          <a:p>
            <a:pPr indent="-448235" lvl="0" marL="596900" rtl="0" algn="l">
              <a:lnSpc>
                <a:spcPct val="95000"/>
              </a:lnSpc>
              <a:spcBef>
                <a:spcPts val="2000"/>
              </a:spcBef>
              <a:spcAft>
                <a:spcPts val="0"/>
              </a:spcAft>
              <a:buSzPts val="1259"/>
              <a:buFont typeface="Arial"/>
              <a:buAutoNum type="arabicPeriod"/>
            </a:pPr>
            <a:r>
              <a:rPr lang="en-GB" sz="1346">
                <a:solidFill>
                  <a:schemeClr val="lt1"/>
                </a:solidFill>
              </a:rPr>
              <a:t>Either use the debug mode directly (then manually input the values 1, /, 0) or using the launch.json provided under /.vscode, enter the debug mode</a:t>
            </a:r>
            <a:endParaRPr sz="1346"/>
          </a:p>
          <a:p>
            <a:pPr indent="-448235" lvl="0" marL="596900" rtl="0" algn="l">
              <a:lnSpc>
                <a:spcPct val="95000"/>
              </a:lnSpc>
              <a:spcBef>
                <a:spcPts val="2000"/>
              </a:spcBef>
              <a:spcAft>
                <a:spcPts val="0"/>
              </a:spcAft>
              <a:buSzPts val="1259"/>
              <a:buFont typeface="Arial"/>
              <a:buAutoNum type="arabicPeriod"/>
            </a:pPr>
            <a:r>
              <a:rPr lang="en-GB" sz="1346">
                <a:solidFill>
                  <a:schemeClr val="lt1"/>
                </a:solidFill>
              </a:rPr>
              <a:t>Continue executing the program until you see the error</a:t>
            </a:r>
            <a:endParaRPr sz="1346"/>
          </a:p>
          <a:p>
            <a:pPr indent="-448235" lvl="0" marL="596900" rtl="0" algn="l">
              <a:lnSpc>
                <a:spcPct val="95000"/>
              </a:lnSpc>
              <a:spcBef>
                <a:spcPts val="2000"/>
              </a:spcBef>
              <a:spcAft>
                <a:spcPts val="0"/>
              </a:spcAft>
              <a:buSzPts val="1259"/>
              <a:buFont typeface="Arial"/>
              <a:buAutoNum type="arabicPeriod"/>
            </a:pPr>
            <a:r>
              <a:rPr lang="en-GB" sz="1346">
                <a:solidFill>
                  <a:schemeClr val="lt1"/>
                </a:solidFill>
              </a:rPr>
              <a:t>Now, identify the error and fix it!</a:t>
            </a:r>
            <a:endParaRPr sz="1346"/>
          </a:p>
          <a:p>
            <a:pPr indent="-448235" lvl="0" marL="596900" rtl="0" algn="l">
              <a:lnSpc>
                <a:spcPct val="95000"/>
              </a:lnSpc>
              <a:spcBef>
                <a:spcPts val="2000"/>
              </a:spcBef>
              <a:spcAft>
                <a:spcPts val="0"/>
              </a:spcAft>
              <a:buSzPts val="1259"/>
              <a:buFont typeface="Arial"/>
              <a:buAutoNum type="arabicPeriod"/>
            </a:pPr>
            <a:r>
              <a:rPr lang="en-GB" sz="1346">
                <a:solidFill>
                  <a:schemeClr val="lt1"/>
                </a:solidFill>
              </a:rPr>
              <a:t>Push the changes to your github (?)</a:t>
            </a:r>
            <a:endParaRPr sz="1346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2"/>
          <p:cNvSpPr txBox="1"/>
          <p:nvPr/>
        </p:nvSpPr>
        <p:spPr>
          <a:xfrm>
            <a:off x="415599" y="1536633"/>
            <a:ext cx="7837200" cy="4555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4"/>
              </a:srgbClr>
            </a:outerShdw>
          </a:effectLst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VS Code also includes other cool features such as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Markdown preview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Remote SSH (requires an extension)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Agent coding (requires extensions), which we will take about next session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e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tc.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75" name="Google Shape;275;p22"/>
          <p:cNvSpPr txBox="1"/>
          <p:nvPr/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GB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There are more features to be explored…</a:t>
            </a:r>
            <a:endParaRPr b="1" i="0" sz="2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4"/>
          <p:cNvSpPr txBox="1"/>
          <p:nvPr/>
        </p:nvSpPr>
        <p:spPr>
          <a:xfrm>
            <a:off x="782271" y="2296658"/>
            <a:ext cx="9043500" cy="22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33"/>
              <a:buFont typeface="Arial"/>
              <a:buNone/>
            </a:pPr>
            <a:r>
              <a:rPr b="0" i="0" lang="en-GB" sz="6933" u="none" cap="none" strike="noStrike">
                <a:solidFill>
                  <a:srgbClr val="FFFFFF"/>
                </a:solidFill>
                <a:latin typeface="Roboto Serif SemiBold"/>
                <a:ea typeface="Roboto Serif SemiBold"/>
                <a:cs typeface="Roboto Serif SemiBold"/>
                <a:sym typeface="Roboto Serif SemiBold"/>
              </a:rPr>
              <a:t>Thanks for Coming!</a:t>
            </a:r>
            <a:endParaRPr b="0" i="0" sz="6933" u="none" cap="none" strike="noStrike">
              <a:solidFill>
                <a:srgbClr val="FFFFFF"/>
              </a:solidFill>
              <a:latin typeface="Roboto Serif SemiBold"/>
              <a:ea typeface="Roboto Serif SemiBold"/>
              <a:cs typeface="Roboto Serif SemiBold"/>
              <a:sym typeface="Roboto Serif SemiBo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955a53f18_0_0"/>
          <p:cNvSpPr txBox="1"/>
          <p:nvPr/>
        </p:nvSpPr>
        <p:spPr>
          <a:xfrm>
            <a:off x="415599" y="1536633"/>
            <a:ext cx="7837200" cy="4555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-330200" lvl="0" marL="457200" rtl="0" algn="l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“A development environment is a set of tools for developing software” - by ./missing-semester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rtl="0" algn="l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They come in two strands: Integrated Development Environments (IDEs) and terminal-based workflows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Today we will be introducing Vim as a terminal-based workflow and VS Code as a 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convenient IDE 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86" name="Google Shape;286;g3f955a53f18_0_0"/>
          <p:cNvSpPr txBox="1"/>
          <p:nvPr/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GB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What are Development Environments?</a:t>
            </a:r>
            <a:endParaRPr b="1" i="0" sz="2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955a53f18_0_75"/>
          <p:cNvSpPr txBox="1"/>
          <p:nvPr/>
        </p:nvSpPr>
        <p:spPr>
          <a:xfrm>
            <a:off x="415599" y="1536633"/>
            <a:ext cx="7837200" cy="4555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-330200" lvl="0" marL="457200" rtl="0" algn="l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Vim has different operating modes for different type of tasks: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Normal: for moving around &amp; editing in a file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Insert: for </a:t>
            </a: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interesting</a:t>
            </a: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text (i)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Replace: for replacing text </a:t>
            </a: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(R)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Visual: for selecting blocks of text (v/Ctrl-V)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Medium"/>
              <a:buChar char="○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Command-line: for running a (vim) command (:)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You can switch to a mode by pressing the corresponding key in Normal mode, and </a:t>
            </a: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switch</a:t>
            </a:r>
            <a:r>
              <a:rPr lang="en-GB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back to Normal mode by pressing &lt;ESC&gt;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92" name="Google Shape;292;g3f955a53f18_0_75"/>
          <p:cNvSpPr txBox="1"/>
          <p:nvPr/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GB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Vim basics - modes of operation</a:t>
            </a:r>
            <a:endParaRPr b="1" i="0" sz="2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60dfddb1a_0_44"/>
          <p:cNvSpPr txBox="1"/>
          <p:nvPr/>
        </p:nvSpPr>
        <p:spPr>
          <a:xfrm>
            <a:off x="415599" y="1536633"/>
            <a:ext cx="7837200" cy="4555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-330200" lvl="0" marL="457200" marR="0" rtl="0" algn="l">
              <a:lnSpc>
                <a:spcPct val="2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b="0" i="0" lang="en-GB" sz="2400" u="none" cap="none" strike="noStrike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Built-in highlights, Grammar checks</a:t>
            </a:r>
            <a:endParaRPr b="0" i="0" sz="2400" u="none" cap="none" strike="noStrike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b="0" i="0" lang="en-GB" sz="2400" u="none" cap="none" strike="noStrike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Fast edition, code refactoring</a:t>
            </a:r>
            <a:endParaRPr b="0" i="0" sz="2400" u="none" cap="none" strike="noStrike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b="0" i="0" lang="en-GB" sz="2400" u="none" cap="none" strike="noStrike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Customised running configuration</a:t>
            </a:r>
            <a:endParaRPr b="0" i="0" sz="2400" u="none" cap="none" strike="noStrike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b="0" i="0" lang="en-GB" sz="2400" u="none" cap="none" strike="noStrike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GUI for version control </a:t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98" name="Google Shape;298;g3f60dfddb1a_0_44"/>
          <p:cNvSpPr txBox="1"/>
          <p:nvPr/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GB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What are</a:t>
            </a:r>
            <a:r>
              <a:rPr b="1" i="0" lang="en-GB" sz="2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IDEs </a:t>
            </a:r>
            <a:endParaRPr b="1" i="0" sz="2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99" name="Google Shape;299;g3f60dfddb1a_0_44"/>
          <p:cNvGrpSpPr/>
          <p:nvPr/>
        </p:nvGrpSpPr>
        <p:grpSpPr>
          <a:xfrm>
            <a:off x="8981641" y="1633582"/>
            <a:ext cx="3387867" cy="3443611"/>
            <a:chOff x="11692488" y="3051798"/>
            <a:chExt cx="4742254" cy="4820284"/>
          </a:xfrm>
        </p:grpSpPr>
        <p:sp>
          <p:nvSpPr>
            <p:cNvPr id="300" name="Google Shape;300;g3f60dfddb1a_0_44"/>
            <p:cNvSpPr/>
            <p:nvPr/>
          </p:nvSpPr>
          <p:spPr>
            <a:xfrm>
              <a:off x="12293537" y="3051798"/>
              <a:ext cx="4140200" cy="4820284"/>
            </a:xfrm>
            <a:custGeom>
              <a:rect b="b" l="l" r="r" t="t"/>
              <a:pathLst>
                <a:path extrusionOk="0" h="4820284" w="4140200">
                  <a:moveTo>
                    <a:pt x="1084714" y="4819973"/>
                  </a:moveTo>
                  <a:lnTo>
                    <a:pt x="1047566" y="4806841"/>
                  </a:lnTo>
                  <a:lnTo>
                    <a:pt x="1018065" y="4780743"/>
                  </a:lnTo>
                  <a:lnTo>
                    <a:pt x="1000247" y="4744048"/>
                  </a:lnTo>
                  <a:lnTo>
                    <a:pt x="2206" y="887295"/>
                  </a:lnTo>
                  <a:lnTo>
                    <a:pt x="0" y="846552"/>
                  </a:lnTo>
                  <a:lnTo>
                    <a:pt x="13142" y="809418"/>
                  </a:lnTo>
                  <a:lnTo>
                    <a:pt x="39266" y="779928"/>
                  </a:lnTo>
                  <a:lnTo>
                    <a:pt x="76005" y="762117"/>
                  </a:lnTo>
                  <a:lnTo>
                    <a:pt x="3014575" y="2198"/>
                  </a:lnTo>
                  <a:lnTo>
                    <a:pt x="3055357" y="0"/>
                  </a:lnTo>
                  <a:lnTo>
                    <a:pt x="3092514" y="13150"/>
                  </a:lnTo>
                  <a:lnTo>
                    <a:pt x="3122034" y="39267"/>
                  </a:lnTo>
                  <a:lnTo>
                    <a:pt x="3139907" y="75970"/>
                  </a:lnTo>
                  <a:lnTo>
                    <a:pt x="4137893" y="3932669"/>
                  </a:lnTo>
                  <a:lnTo>
                    <a:pt x="4140093" y="3973412"/>
                  </a:lnTo>
                  <a:lnTo>
                    <a:pt x="4126938" y="4010553"/>
                  </a:lnTo>
                  <a:lnTo>
                    <a:pt x="4100811" y="4040059"/>
                  </a:lnTo>
                  <a:lnTo>
                    <a:pt x="4064095" y="4057902"/>
                  </a:lnTo>
                  <a:lnTo>
                    <a:pt x="1125471" y="4817766"/>
                  </a:lnTo>
                  <a:lnTo>
                    <a:pt x="1084714" y="4819973"/>
                  </a:lnTo>
                  <a:close/>
                </a:path>
              </a:pathLst>
            </a:custGeom>
            <a:solidFill>
              <a:srgbClr val="3BBEC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g3f60dfddb1a_0_44"/>
            <p:cNvSpPr/>
            <p:nvPr/>
          </p:nvSpPr>
          <p:spPr>
            <a:xfrm>
              <a:off x="12929083" y="3095632"/>
              <a:ext cx="3056890" cy="2462529"/>
            </a:xfrm>
            <a:custGeom>
              <a:rect b="b" l="l" r="r" t="t"/>
              <a:pathLst>
                <a:path extrusionOk="0" h="2462529" w="3056890">
                  <a:moveTo>
                    <a:pt x="2910278" y="2462474"/>
                  </a:moveTo>
                  <a:lnTo>
                    <a:pt x="2305882" y="126969"/>
                  </a:lnTo>
                  <a:lnTo>
                    <a:pt x="6407" y="721594"/>
                  </a:lnTo>
                  <a:lnTo>
                    <a:pt x="3764" y="685979"/>
                  </a:lnTo>
                  <a:lnTo>
                    <a:pt x="1010" y="637271"/>
                  </a:lnTo>
                  <a:lnTo>
                    <a:pt x="0" y="612918"/>
                  </a:lnTo>
                  <a:lnTo>
                    <a:pt x="2366484" y="977"/>
                  </a:lnTo>
                  <a:lnTo>
                    <a:pt x="2374412" y="0"/>
                  </a:lnTo>
                  <a:lnTo>
                    <a:pt x="2382178" y="0"/>
                  </a:lnTo>
                  <a:lnTo>
                    <a:pt x="2439244" y="19352"/>
                  </a:lnTo>
                  <a:lnTo>
                    <a:pt x="2473136" y="70460"/>
                  </a:lnTo>
                  <a:lnTo>
                    <a:pt x="3056842" y="2326168"/>
                  </a:lnTo>
                  <a:lnTo>
                    <a:pt x="3021952" y="2362069"/>
                  </a:lnTo>
                  <a:lnTo>
                    <a:pt x="2985881" y="2396784"/>
                  </a:lnTo>
                  <a:lnTo>
                    <a:pt x="2948650" y="2430268"/>
                  </a:lnTo>
                  <a:lnTo>
                    <a:pt x="2910278" y="2462474"/>
                  </a:lnTo>
                  <a:close/>
                </a:path>
              </a:pathLst>
            </a:custGeom>
            <a:solidFill>
              <a:srgbClr val="5BC8C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2" name="Google Shape;302;g3f60dfddb1a_0_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292431" y="3222601"/>
              <a:ext cx="4142311" cy="46471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g3f60dfddb1a_0_44"/>
            <p:cNvSpPr/>
            <p:nvPr/>
          </p:nvSpPr>
          <p:spPr>
            <a:xfrm>
              <a:off x="12639212" y="3889043"/>
              <a:ext cx="990600" cy="3761740"/>
            </a:xfrm>
            <a:custGeom>
              <a:rect b="b" l="l" r="r" t="t"/>
              <a:pathLst>
                <a:path extrusionOk="0" h="3761740" w="990600">
                  <a:moveTo>
                    <a:pt x="972029" y="3761159"/>
                  </a:moveTo>
                  <a:lnTo>
                    <a:pt x="0" y="4776"/>
                  </a:lnTo>
                  <a:lnTo>
                    <a:pt x="18463" y="0"/>
                  </a:lnTo>
                  <a:lnTo>
                    <a:pt x="990492" y="3756382"/>
                  </a:lnTo>
                  <a:lnTo>
                    <a:pt x="972029" y="3761159"/>
                  </a:lnTo>
                  <a:close/>
                </a:path>
              </a:pathLst>
            </a:custGeom>
            <a:solidFill>
              <a:srgbClr val="E2696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g3f60dfddb1a_0_44"/>
            <p:cNvSpPr/>
            <p:nvPr/>
          </p:nvSpPr>
          <p:spPr>
            <a:xfrm>
              <a:off x="12773927" y="3450271"/>
              <a:ext cx="3231515" cy="3990340"/>
            </a:xfrm>
            <a:custGeom>
              <a:rect b="b" l="l" r="r" t="t"/>
              <a:pathLst>
                <a:path extrusionOk="0" h="3990340" w="3231515">
                  <a:moveTo>
                    <a:pt x="2358669" y="9448"/>
                  </a:moveTo>
                  <a:lnTo>
                    <a:pt x="2356167" y="0"/>
                  </a:lnTo>
                  <a:lnTo>
                    <a:pt x="0" y="609231"/>
                  </a:lnTo>
                  <a:lnTo>
                    <a:pt x="2501" y="618680"/>
                  </a:lnTo>
                  <a:lnTo>
                    <a:pt x="2358669" y="9448"/>
                  </a:lnTo>
                  <a:close/>
                </a:path>
                <a:path extrusionOk="0" h="3990340" w="3231515">
                  <a:moveTo>
                    <a:pt x="2393581" y="144284"/>
                  </a:moveTo>
                  <a:lnTo>
                    <a:pt x="2391092" y="134785"/>
                  </a:lnTo>
                  <a:lnTo>
                    <a:pt x="34925" y="744067"/>
                  </a:lnTo>
                  <a:lnTo>
                    <a:pt x="37363" y="753516"/>
                  </a:lnTo>
                  <a:lnTo>
                    <a:pt x="2393581" y="144284"/>
                  </a:lnTo>
                  <a:close/>
                </a:path>
                <a:path extrusionOk="0" h="3990340" w="3231515">
                  <a:moveTo>
                    <a:pt x="2428456" y="279069"/>
                  </a:moveTo>
                  <a:lnTo>
                    <a:pt x="2426004" y="269633"/>
                  </a:lnTo>
                  <a:lnTo>
                    <a:pt x="69837" y="878916"/>
                  </a:lnTo>
                  <a:lnTo>
                    <a:pt x="72224" y="888352"/>
                  </a:lnTo>
                  <a:lnTo>
                    <a:pt x="2428456" y="279069"/>
                  </a:lnTo>
                  <a:close/>
                </a:path>
                <a:path extrusionOk="0" h="3990340" w="3231515">
                  <a:moveTo>
                    <a:pt x="2463317" y="413969"/>
                  </a:moveTo>
                  <a:lnTo>
                    <a:pt x="2460929" y="404469"/>
                  </a:lnTo>
                  <a:lnTo>
                    <a:pt x="104698" y="1013752"/>
                  </a:lnTo>
                  <a:lnTo>
                    <a:pt x="107149" y="1023200"/>
                  </a:lnTo>
                  <a:lnTo>
                    <a:pt x="2463317" y="413969"/>
                  </a:lnTo>
                  <a:close/>
                </a:path>
                <a:path extrusionOk="0" h="3990340" w="3231515">
                  <a:moveTo>
                    <a:pt x="2498229" y="548805"/>
                  </a:moveTo>
                  <a:lnTo>
                    <a:pt x="2495791" y="539305"/>
                  </a:lnTo>
                  <a:lnTo>
                    <a:pt x="139560" y="1148588"/>
                  </a:lnTo>
                  <a:lnTo>
                    <a:pt x="142062" y="1158087"/>
                  </a:lnTo>
                  <a:lnTo>
                    <a:pt x="2498229" y="548805"/>
                  </a:lnTo>
                  <a:close/>
                </a:path>
                <a:path extrusionOk="0" h="3990340" w="3231515">
                  <a:moveTo>
                    <a:pt x="2533142" y="683653"/>
                  </a:moveTo>
                  <a:lnTo>
                    <a:pt x="2530652" y="674204"/>
                  </a:lnTo>
                  <a:lnTo>
                    <a:pt x="174536" y="1283487"/>
                  </a:lnTo>
                  <a:lnTo>
                    <a:pt x="176974" y="1292936"/>
                  </a:lnTo>
                  <a:lnTo>
                    <a:pt x="2533142" y="683653"/>
                  </a:lnTo>
                  <a:close/>
                </a:path>
                <a:path extrusionOk="0" h="3990340" w="3231515">
                  <a:moveTo>
                    <a:pt x="2568016" y="818438"/>
                  </a:moveTo>
                  <a:lnTo>
                    <a:pt x="2565565" y="808990"/>
                  </a:lnTo>
                  <a:lnTo>
                    <a:pt x="209397" y="1418272"/>
                  </a:lnTo>
                  <a:lnTo>
                    <a:pt x="211785" y="1427721"/>
                  </a:lnTo>
                  <a:lnTo>
                    <a:pt x="2568016" y="818438"/>
                  </a:lnTo>
                  <a:close/>
                </a:path>
                <a:path extrusionOk="0" h="3990340" w="3231515">
                  <a:moveTo>
                    <a:pt x="2602877" y="953274"/>
                  </a:moveTo>
                  <a:lnTo>
                    <a:pt x="2600477" y="943838"/>
                  </a:lnTo>
                  <a:lnTo>
                    <a:pt x="244259" y="1553121"/>
                  </a:lnTo>
                  <a:lnTo>
                    <a:pt x="246710" y="1562557"/>
                  </a:lnTo>
                  <a:lnTo>
                    <a:pt x="2602877" y="953274"/>
                  </a:lnTo>
                  <a:close/>
                </a:path>
                <a:path extrusionOk="0" h="3990340" w="3231515">
                  <a:moveTo>
                    <a:pt x="2637790" y="1088174"/>
                  </a:moveTo>
                  <a:lnTo>
                    <a:pt x="2635351" y="1078725"/>
                  </a:lnTo>
                  <a:lnTo>
                    <a:pt x="279184" y="1687957"/>
                  </a:lnTo>
                  <a:lnTo>
                    <a:pt x="281622" y="1697405"/>
                  </a:lnTo>
                  <a:lnTo>
                    <a:pt x="2637790" y="1088174"/>
                  </a:lnTo>
                  <a:close/>
                </a:path>
                <a:path extrusionOk="0" h="3990340" w="3231515">
                  <a:moveTo>
                    <a:pt x="2672702" y="1223010"/>
                  </a:moveTo>
                  <a:lnTo>
                    <a:pt x="2670213" y="1213573"/>
                  </a:lnTo>
                  <a:lnTo>
                    <a:pt x="314096" y="1822792"/>
                  </a:lnTo>
                  <a:lnTo>
                    <a:pt x="316534" y="1832241"/>
                  </a:lnTo>
                  <a:lnTo>
                    <a:pt x="2672702" y="1223010"/>
                  </a:lnTo>
                  <a:close/>
                </a:path>
                <a:path extrusionOk="0" h="3990340" w="3231515">
                  <a:moveTo>
                    <a:pt x="2707627" y="1357858"/>
                  </a:moveTo>
                  <a:lnTo>
                    <a:pt x="2705176" y="1348409"/>
                  </a:lnTo>
                  <a:lnTo>
                    <a:pt x="348957" y="1957692"/>
                  </a:lnTo>
                  <a:lnTo>
                    <a:pt x="351409" y="1967077"/>
                  </a:lnTo>
                  <a:lnTo>
                    <a:pt x="2707627" y="1357858"/>
                  </a:lnTo>
                  <a:close/>
                </a:path>
                <a:path extrusionOk="0" h="3990340" w="3231515">
                  <a:moveTo>
                    <a:pt x="2742488" y="1492643"/>
                  </a:moveTo>
                  <a:lnTo>
                    <a:pt x="2740037" y="1483245"/>
                  </a:lnTo>
                  <a:lnTo>
                    <a:pt x="383819" y="2092477"/>
                  </a:lnTo>
                  <a:lnTo>
                    <a:pt x="386270" y="2101926"/>
                  </a:lnTo>
                  <a:lnTo>
                    <a:pt x="2742488" y="1492643"/>
                  </a:lnTo>
                  <a:close/>
                </a:path>
                <a:path extrusionOk="0" h="3990340" w="3231515">
                  <a:moveTo>
                    <a:pt x="2777350" y="1627543"/>
                  </a:moveTo>
                  <a:lnTo>
                    <a:pt x="2774912" y="1618094"/>
                  </a:lnTo>
                  <a:lnTo>
                    <a:pt x="418744" y="2227326"/>
                  </a:lnTo>
                  <a:lnTo>
                    <a:pt x="421182" y="2236825"/>
                  </a:lnTo>
                  <a:lnTo>
                    <a:pt x="2777350" y="1627543"/>
                  </a:lnTo>
                  <a:close/>
                </a:path>
                <a:path extrusionOk="0" h="3990340" w="3231515">
                  <a:moveTo>
                    <a:pt x="2812262" y="1762379"/>
                  </a:moveTo>
                  <a:lnTo>
                    <a:pt x="2809824" y="1752879"/>
                  </a:lnTo>
                  <a:lnTo>
                    <a:pt x="453656" y="2362162"/>
                  </a:lnTo>
                  <a:lnTo>
                    <a:pt x="456095" y="2371661"/>
                  </a:lnTo>
                  <a:lnTo>
                    <a:pt x="2812262" y="1762379"/>
                  </a:lnTo>
                  <a:close/>
                </a:path>
                <a:path extrusionOk="0" h="3990340" w="3231515">
                  <a:moveTo>
                    <a:pt x="2847187" y="1897214"/>
                  </a:moveTo>
                  <a:lnTo>
                    <a:pt x="2844736" y="1887715"/>
                  </a:lnTo>
                  <a:lnTo>
                    <a:pt x="488569" y="2496997"/>
                  </a:lnTo>
                  <a:lnTo>
                    <a:pt x="490956" y="2506497"/>
                  </a:lnTo>
                  <a:lnTo>
                    <a:pt x="2847187" y="1897214"/>
                  </a:lnTo>
                  <a:close/>
                </a:path>
                <a:path extrusionOk="0" h="3990340" w="3231515">
                  <a:moveTo>
                    <a:pt x="2882049" y="2032063"/>
                  </a:moveTo>
                  <a:lnTo>
                    <a:pt x="2879598" y="2022614"/>
                  </a:lnTo>
                  <a:lnTo>
                    <a:pt x="523430" y="2631897"/>
                  </a:lnTo>
                  <a:lnTo>
                    <a:pt x="525881" y="2641346"/>
                  </a:lnTo>
                  <a:lnTo>
                    <a:pt x="2882049" y="2032063"/>
                  </a:lnTo>
                  <a:close/>
                </a:path>
                <a:path extrusionOk="0" h="3990340" w="3231515">
                  <a:moveTo>
                    <a:pt x="2916910" y="2166848"/>
                  </a:moveTo>
                  <a:lnTo>
                    <a:pt x="2914523" y="2157450"/>
                  </a:lnTo>
                  <a:lnTo>
                    <a:pt x="558304" y="2766682"/>
                  </a:lnTo>
                  <a:lnTo>
                    <a:pt x="560743" y="2776131"/>
                  </a:lnTo>
                  <a:lnTo>
                    <a:pt x="2916910" y="2166848"/>
                  </a:lnTo>
                  <a:close/>
                </a:path>
                <a:path extrusionOk="0" h="3990340" w="3231515">
                  <a:moveTo>
                    <a:pt x="2951823" y="2301748"/>
                  </a:moveTo>
                  <a:lnTo>
                    <a:pt x="2949384" y="2292299"/>
                  </a:lnTo>
                  <a:lnTo>
                    <a:pt x="593217" y="2901518"/>
                  </a:lnTo>
                  <a:lnTo>
                    <a:pt x="595655" y="2911017"/>
                  </a:lnTo>
                  <a:lnTo>
                    <a:pt x="2951823" y="2301748"/>
                  </a:lnTo>
                  <a:close/>
                </a:path>
                <a:path extrusionOk="0" h="3990340" w="3231515">
                  <a:moveTo>
                    <a:pt x="2986748" y="2436584"/>
                  </a:moveTo>
                  <a:lnTo>
                    <a:pt x="2984296" y="2427135"/>
                  </a:lnTo>
                  <a:lnTo>
                    <a:pt x="628129" y="3036366"/>
                  </a:lnTo>
                  <a:lnTo>
                    <a:pt x="630580" y="3045815"/>
                  </a:lnTo>
                  <a:lnTo>
                    <a:pt x="2986748" y="2436584"/>
                  </a:lnTo>
                  <a:close/>
                </a:path>
                <a:path extrusionOk="0" h="3990340" w="3231515">
                  <a:moveTo>
                    <a:pt x="3021609" y="2571419"/>
                  </a:moveTo>
                  <a:lnTo>
                    <a:pt x="3019221" y="2561983"/>
                  </a:lnTo>
                  <a:lnTo>
                    <a:pt x="662990" y="3171266"/>
                  </a:lnTo>
                  <a:lnTo>
                    <a:pt x="665441" y="3180651"/>
                  </a:lnTo>
                  <a:lnTo>
                    <a:pt x="3021609" y="2571419"/>
                  </a:lnTo>
                  <a:close/>
                </a:path>
                <a:path extrusionOk="0" h="3990340" w="3231515">
                  <a:moveTo>
                    <a:pt x="3056521" y="2706268"/>
                  </a:moveTo>
                  <a:lnTo>
                    <a:pt x="3054083" y="2696819"/>
                  </a:lnTo>
                  <a:lnTo>
                    <a:pt x="697915" y="3306102"/>
                  </a:lnTo>
                  <a:lnTo>
                    <a:pt x="700303" y="3315551"/>
                  </a:lnTo>
                  <a:lnTo>
                    <a:pt x="3056521" y="2706268"/>
                  </a:lnTo>
                  <a:close/>
                </a:path>
                <a:path extrusionOk="0" h="3990340" w="3231515">
                  <a:moveTo>
                    <a:pt x="3091383" y="2841053"/>
                  </a:moveTo>
                  <a:lnTo>
                    <a:pt x="3088944" y="2831655"/>
                  </a:lnTo>
                  <a:lnTo>
                    <a:pt x="732777" y="3440938"/>
                  </a:lnTo>
                  <a:lnTo>
                    <a:pt x="735215" y="3450336"/>
                  </a:lnTo>
                  <a:lnTo>
                    <a:pt x="3091383" y="2841053"/>
                  </a:lnTo>
                  <a:close/>
                </a:path>
                <a:path extrusionOk="0" h="3990340" w="3231515">
                  <a:moveTo>
                    <a:pt x="3126308" y="2975953"/>
                  </a:moveTo>
                  <a:lnTo>
                    <a:pt x="3123857" y="2966504"/>
                  </a:lnTo>
                  <a:lnTo>
                    <a:pt x="767689" y="3575723"/>
                  </a:lnTo>
                  <a:lnTo>
                    <a:pt x="770140" y="3585222"/>
                  </a:lnTo>
                  <a:lnTo>
                    <a:pt x="3126308" y="2975953"/>
                  </a:lnTo>
                  <a:close/>
                </a:path>
                <a:path extrusionOk="0" h="3990340" w="3231515">
                  <a:moveTo>
                    <a:pt x="3161220" y="3110788"/>
                  </a:moveTo>
                  <a:lnTo>
                    <a:pt x="3158782" y="3101340"/>
                  </a:lnTo>
                  <a:lnTo>
                    <a:pt x="802614" y="3710571"/>
                  </a:lnTo>
                  <a:lnTo>
                    <a:pt x="805002" y="3720071"/>
                  </a:lnTo>
                  <a:lnTo>
                    <a:pt x="3161220" y="3110788"/>
                  </a:lnTo>
                  <a:close/>
                </a:path>
                <a:path extrusionOk="0" h="3990340" w="3231515">
                  <a:moveTo>
                    <a:pt x="3196082" y="3245624"/>
                  </a:moveTo>
                  <a:lnTo>
                    <a:pt x="3193643" y="3236188"/>
                  </a:lnTo>
                  <a:lnTo>
                    <a:pt x="837476" y="3845458"/>
                  </a:lnTo>
                  <a:lnTo>
                    <a:pt x="839914" y="3854907"/>
                  </a:lnTo>
                  <a:lnTo>
                    <a:pt x="3196082" y="3245624"/>
                  </a:lnTo>
                  <a:close/>
                </a:path>
                <a:path extrusionOk="0" h="3990340" w="3231515">
                  <a:moveTo>
                    <a:pt x="3230943" y="3380473"/>
                  </a:moveTo>
                  <a:lnTo>
                    <a:pt x="3228556" y="3371024"/>
                  </a:lnTo>
                  <a:lnTo>
                    <a:pt x="872337" y="3980307"/>
                  </a:lnTo>
                  <a:lnTo>
                    <a:pt x="874826" y="3989755"/>
                  </a:lnTo>
                  <a:lnTo>
                    <a:pt x="3230943" y="3380473"/>
                  </a:lnTo>
                  <a:close/>
                </a:path>
              </a:pathLst>
            </a:custGeom>
            <a:solidFill>
              <a:srgbClr val="C6C4C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5" name="Google Shape;305;g3f60dfddb1a_0_4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246111" y="4079719"/>
              <a:ext cx="1205316" cy="35306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g3f60dfddb1a_0_44"/>
            <p:cNvSpPr/>
            <p:nvPr/>
          </p:nvSpPr>
          <p:spPr>
            <a:xfrm>
              <a:off x="13980993" y="7129785"/>
              <a:ext cx="56515" cy="58420"/>
            </a:xfrm>
            <a:custGeom>
              <a:rect b="b" l="l" r="r" t="t"/>
              <a:pathLst>
                <a:path extrusionOk="0" h="58420" w="56515">
                  <a:moveTo>
                    <a:pt x="40454" y="58071"/>
                  </a:moveTo>
                  <a:lnTo>
                    <a:pt x="37469" y="57377"/>
                  </a:lnTo>
                  <a:lnTo>
                    <a:pt x="0" y="24210"/>
                  </a:lnTo>
                  <a:lnTo>
                    <a:pt x="31495" y="0"/>
                  </a:lnTo>
                  <a:lnTo>
                    <a:pt x="55986" y="42178"/>
                  </a:lnTo>
                  <a:lnTo>
                    <a:pt x="53368" y="53759"/>
                  </a:lnTo>
                  <a:lnTo>
                    <a:pt x="46972" y="57961"/>
                  </a:lnTo>
                  <a:lnTo>
                    <a:pt x="40454" y="58071"/>
                  </a:lnTo>
                  <a:close/>
                </a:path>
              </a:pathLst>
            </a:custGeom>
            <a:solidFill>
              <a:srgbClr val="908F8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g3f60dfddb1a_0_44"/>
            <p:cNvSpPr/>
            <p:nvPr/>
          </p:nvSpPr>
          <p:spPr>
            <a:xfrm>
              <a:off x="13747760" y="6857769"/>
              <a:ext cx="276225" cy="305434"/>
            </a:xfrm>
            <a:custGeom>
              <a:rect b="b" l="l" r="r" t="t"/>
              <a:pathLst>
                <a:path extrusionOk="0" h="305434" w="276225">
                  <a:moveTo>
                    <a:pt x="225847" y="304966"/>
                  </a:moveTo>
                  <a:lnTo>
                    <a:pt x="0" y="89133"/>
                  </a:lnTo>
                  <a:lnTo>
                    <a:pt x="108769" y="0"/>
                  </a:lnTo>
                  <a:lnTo>
                    <a:pt x="276078" y="263764"/>
                  </a:lnTo>
                  <a:lnTo>
                    <a:pt x="262066" y="283004"/>
                  </a:lnTo>
                  <a:lnTo>
                    <a:pt x="245484" y="295744"/>
                  </a:lnTo>
                  <a:lnTo>
                    <a:pt x="231641" y="302795"/>
                  </a:lnTo>
                  <a:lnTo>
                    <a:pt x="225847" y="304966"/>
                  </a:lnTo>
                  <a:close/>
                </a:path>
              </a:pathLst>
            </a:custGeom>
            <a:solidFill>
              <a:srgbClr val="BDBC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g3f60dfddb1a_0_44"/>
            <p:cNvSpPr/>
            <p:nvPr/>
          </p:nvSpPr>
          <p:spPr>
            <a:xfrm>
              <a:off x="11771717" y="4465591"/>
              <a:ext cx="2091690" cy="2487295"/>
            </a:xfrm>
            <a:custGeom>
              <a:rect b="b" l="l" r="r" t="t"/>
              <a:pathLst>
                <a:path extrusionOk="0" h="2487295" w="2091690">
                  <a:moveTo>
                    <a:pt x="1969310" y="2486848"/>
                  </a:moveTo>
                  <a:lnTo>
                    <a:pt x="1852832" y="2393230"/>
                  </a:lnTo>
                  <a:lnTo>
                    <a:pt x="1775963" y="2321811"/>
                  </a:lnTo>
                  <a:lnTo>
                    <a:pt x="1733589" y="2276266"/>
                  </a:lnTo>
                  <a:lnTo>
                    <a:pt x="0" y="161819"/>
                  </a:lnTo>
                  <a:lnTo>
                    <a:pt x="197555" y="0"/>
                  </a:lnTo>
                  <a:lnTo>
                    <a:pt x="1931289" y="2114325"/>
                  </a:lnTo>
                  <a:lnTo>
                    <a:pt x="1967626" y="2164809"/>
                  </a:lnTo>
                  <a:lnTo>
                    <a:pt x="2022576" y="2254174"/>
                  </a:lnTo>
                  <a:lnTo>
                    <a:pt x="2091546" y="2386694"/>
                  </a:lnTo>
                  <a:lnTo>
                    <a:pt x="2054669" y="2438641"/>
                  </a:lnTo>
                  <a:lnTo>
                    <a:pt x="2014626" y="2469036"/>
                  </a:lnTo>
                  <a:lnTo>
                    <a:pt x="1982483" y="2483298"/>
                  </a:lnTo>
                  <a:lnTo>
                    <a:pt x="1969310" y="2486848"/>
                  </a:lnTo>
                  <a:close/>
                </a:path>
              </a:pathLst>
            </a:custGeom>
            <a:solidFill>
              <a:srgbClr val="292E3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g3f60dfddb1a_0_44"/>
            <p:cNvSpPr/>
            <p:nvPr/>
          </p:nvSpPr>
          <p:spPr>
            <a:xfrm>
              <a:off x="12112036" y="4788145"/>
              <a:ext cx="1677669" cy="1990090"/>
            </a:xfrm>
            <a:custGeom>
              <a:rect b="b" l="l" r="r" t="t"/>
              <a:pathLst>
                <a:path extrusionOk="0" h="1990090" w="1677669">
                  <a:moveTo>
                    <a:pt x="1677483" y="1989826"/>
                  </a:moveTo>
                  <a:lnTo>
                    <a:pt x="1677266" y="1989826"/>
                  </a:lnTo>
                  <a:lnTo>
                    <a:pt x="1649236" y="1987645"/>
                  </a:lnTo>
                  <a:lnTo>
                    <a:pt x="1621069" y="1981418"/>
                  </a:lnTo>
                  <a:lnTo>
                    <a:pt x="1594052" y="1971619"/>
                  </a:lnTo>
                  <a:lnTo>
                    <a:pt x="1569474" y="1958721"/>
                  </a:lnTo>
                  <a:lnTo>
                    <a:pt x="0" y="44512"/>
                  </a:lnTo>
                  <a:lnTo>
                    <a:pt x="11356" y="34496"/>
                  </a:lnTo>
                  <a:lnTo>
                    <a:pt x="22834" y="23742"/>
                  </a:lnTo>
                  <a:lnTo>
                    <a:pt x="34394" y="12245"/>
                  </a:lnTo>
                  <a:lnTo>
                    <a:pt x="45994" y="0"/>
                  </a:lnTo>
                  <a:lnTo>
                    <a:pt x="1677483" y="1989826"/>
                  </a:lnTo>
                  <a:close/>
                </a:path>
              </a:pathLst>
            </a:custGeom>
            <a:solidFill>
              <a:srgbClr val="41455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g3f60dfddb1a_0_44"/>
            <p:cNvSpPr/>
            <p:nvPr/>
          </p:nvSpPr>
          <p:spPr>
            <a:xfrm>
              <a:off x="11999248" y="4871580"/>
              <a:ext cx="1864359" cy="2080895"/>
            </a:xfrm>
            <a:custGeom>
              <a:rect b="b" l="l" r="r" t="t"/>
              <a:pathLst>
                <a:path extrusionOk="0" h="2080895" w="1864359">
                  <a:moveTo>
                    <a:pt x="1741779" y="2080859"/>
                  </a:moveTo>
                  <a:lnTo>
                    <a:pt x="1684645" y="2036632"/>
                  </a:lnTo>
                  <a:lnTo>
                    <a:pt x="1635942" y="1996394"/>
                  </a:lnTo>
                  <a:lnTo>
                    <a:pt x="1590234" y="1955924"/>
                  </a:lnTo>
                  <a:lnTo>
                    <a:pt x="1559978" y="1927263"/>
                  </a:lnTo>
                  <a:lnTo>
                    <a:pt x="1517452" y="1883266"/>
                  </a:lnTo>
                  <a:lnTo>
                    <a:pt x="1493070" y="1854279"/>
                  </a:lnTo>
                  <a:lnTo>
                    <a:pt x="0" y="33330"/>
                  </a:lnTo>
                  <a:lnTo>
                    <a:pt x="12438" y="27610"/>
                  </a:lnTo>
                  <a:lnTo>
                    <a:pt x="26934" y="20227"/>
                  </a:lnTo>
                  <a:lnTo>
                    <a:pt x="43222" y="11062"/>
                  </a:lnTo>
                  <a:lnTo>
                    <a:pt x="61036" y="0"/>
                  </a:lnTo>
                  <a:lnTo>
                    <a:pt x="1505451" y="1761671"/>
                  </a:lnTo>
                  <a:lnTo>
                    <a:pt x="1518447" y="1777661"/>
                  </a:lnTo>
                  <a:lnTo>
                    <a:pt x="1560833" y="1823188"/>
                  </a:lnTo>
                  <a:lnTo>
                    <a:pt x="1637706" y="1894588"/>
                  </a:lnTo>
                  <a:lnTo>
                    <a:pt x="1754160" y="1988197"/>
                  </a:lnTo>
                  <a:lnTo>
                    <a:pt x="1860143" y="1988197"/>
                  </a:lnTo>
                  <a:lnTo>
                    <a:pt x="1859400" y="1989554"/>
                  </a:lnTo>
                  <a:lnTo>
                    <a:pt x="1831478" y="2028156"/>
                  </a:lnTo>
                  <a:lnTo>
                    <a:pt x="1801091" y="2054294"/>
                  </a:lnTo>
                  <a:lnTo>
                    <a:pt x="1751662" y="2078362"/>
                  </a:lnTo>
                  <a:lnTo>
                    <a:pt x="1745417" y="2080208"/>
                  </a:lnTo>
                  <a:lnTo>
                    <a:pt x="1741779" y="2080859"/>
                  </a:lnTo>
                  <a:close/>
                </a:path>
                <a:path extrusionOk="0" h="2080895" w="1864359">
                  <a:moveTo>
                    <a:pt x="1860143" y="1988197"/>
                  </a:moveTo>
                  <a:lnTo>
                    <a:pt x="1754160" y="1988197"/>
                  </a:lnTo>
                  <a:lnTo>
                    <a:pt x="1762191" y="1986205"/>
                  </a:lnTo>
                  <a:lnTo>
                    <a:pt x="1782934" y="1978609"/>
                  </a:lnTo>
                  <a:lnTo>
                    <a:pt x="1811364" y="1962983"/>
                  </a:lnTo>
                  <a:lnTo>
                    <a:pt x="1842457" y="1936899"/>
                  </a:lnTo>
                  <a:lnTo>
                    <a:pt x="1847529" y="1947011"/>
                  </a:lnTo>
                  <a:lnTo>
                    <a:pt x="1852652" y="1957337"/>
                  </a:lnTo>
                  <a:lnTo>
                    <a:pt x="1857837" y="1967907"/>
                  </a:lnTo>
                  <a:lnTo>
                    <a:pt x="1863418" y="1979403"/>
                  </a:lnTo>
                  <a:lnTo>
                    <a:pt x="1863690" y="1980054"/>
                  </a:lnTo>
                  <a:lnTo>
                    <a:pt x="1864015" y="1980706"/>
                  </a:lnTo>
                  <a:lnTo>
                    <a:pt x="1862495" y="1983746"/>
                  </a:lnTo>
                  <a:lnTo>
                    <a:pt x="1860974" y="1986677"/>
                  </a:lnTo>
                  <a:lnTo>
                    <a:pt x="1860143" y="1988197"/>
                  </a:lnTo>
                  <a:close/>
                </a:path>
              </a:pathLst>
            </a:custGeom>
            <a:solidFill>
              <a:srgbClr val="20232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g3f60dfddb1a_0_44"/>
            <p:cNvSpPr/>
            <p:nvPr/>
          </p:nvSpPr>
          <p:spPr>
            <a:xfrm>
              <a:off x="11692488" y="4376349"/>
              <a:ext cx="518159" cy="537845"/>
            </a:xfrm>
            <a:custGeom>
              <a:rect b="b" l="l" r="r" t="t"/>
              <a:pathLst>
                <a:path extrusionOk="0" h="537845" w="518159">
                  <a:moveTo>
                    <a:pt x="283191" y="537626"/>
                  </a:moveTo>
                  <a:lnTo>
                    <a:pt x="0" y="192273"/>
                  </a:lnTo>
                  <a:lnTo>
                    <a:pt x="10829" y="173734"/>
                  </a:lnTo>
                  <a:lnTo>
                    <a:pt x="48431" y="126813"/>
                  </a:lnTo>
                  <a:lnTo>
                    <a:pt x="120479" y="64554"/>
                  </a:lnTo>
                  <a:lnTo>
                    <a:pt x="234644" y="0"/>
                  </a:lnTo>
                  <a:lnTo>
                    <a:pt x="517782" y="345407"/>
                  </a:lnTo>
                  <a:lnTo>
                    <a:pt x="437279" y="440366"/>
                  </a:lnTo>
                  <a:lnTo>
                    <a:pt x="361510" y="499227"/>
                  </a:lnTo>
                  <a:lnTo>
                    <a:pt x="305230" y="529233"/>
                  </a:lnTo>
                  <a:lnTo>
                    <a:pt x="283191" y="537626"/>
                  </a:lnTo>
                  <a:close/>
                </a:path>
              </a:pathLst>
            </a:custGeom>
            <a:solidFill>
              <a:srgbClr val="2189B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g3f60dfddb1a_0_44"/>
            <p:cNvSpPr/>
            <p:nvPr/>
          </p:nvSpPr>
          <p:spPr>
            <a:xfrm>
              <a:off x="11856365" y="4386287"/>
              <a:ext cx="340995" cy="398779"/>
            </a:xfrm>
            <a:custGeom>
              <a:rect b="b" l="l" r="r" t="t"/>
              <a:pathLst>
                <a:path extrusionOk="0" h="398779" w="340995">
                  <a:moveTo>
                    <a:pt x="319151" y="381241"/>
                  </a:moveTo>
                  <a:lnTo>
                    <a:pt x="19494" y="15798"/>
                  </a:lnTo>
                  <a:lnTo>
                    <a:pt x="12763" y="19380"/>
                  </a:lnTo>
                  <a:lnTo>
                    <a:pt x="0" y="26657"/>
                  </a:lnTo>
                  <a:lnTo>
                    <a:pt x="304647" y="398233"/>
                  </a:lnTo>
                  <a:lnTo>
                    <a:pt x="309537" y="392849"/>
                  </a:lnTo>
                  <a:lnTo>
                    <a:pt x="319151" y="381241"/>
                  </a:lnTo>
                  <a:close/>
                </a:path>
                <a:path extrusionOk="0" h="398779" w="340995">
                  <a:moveTo>
                    <a:pt x="340487" y="353822"/>
                  </a:moveTo>
                  <a:lnTo>
                    <a:pt x="50393" y="0"/>
                  </a:lnTo>
                  <a:lnTo>
                    <a:pt x="35788" y="7378"/>
                  </a:lnTo>
                  <a:lnTo>
                    <a:pt x="330492" y="366852"/>
                  </a:lnTo>
                  <a:lnTo>
                    <a:pt x="337223" y="358330"/>
                  </a:lnTo>
                  <a:lnTo>
                    <a:pt x="340487" y="353822"/>
                  </a:lnTo>
                  <a:close/>
                </a:path>
              </a:pathLst>
            </a:custGeom>
            <a:solidFill>
              <a:srgbClr val="3D9DC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g3f60dfddb1a_0_44"/>
            <p:cNvSpPr/>
            <p:nvPr/>
          </p:nvSpPr>
          <p:spPr>
            <a:xfrm>
              <a:off x="11692488" y="4490887"/>
              <a:ext cx="465454" cy="423545"/>
            </a:xfrm>
            <a:custGeom>
              <a:rect b="b" l="l" r="r" t="t"/>
              <a:pathLst>
                <a:path extrusionOk="0" h="423545" w="465454">
                  <a:moveTo>
                    <a:pt x="283191" y="423087"/>
                  </a:moveTo>
                  <a:lnTo>
                    <a:pt x="0" y="77734"/>
                  </a:lnTo>
                  <a:lnTo>
                    <a:pt x="3153" y="71771"/>
                  </a:lnTo>
                  <a:lnTo>
                    <a:pt x="13460" y="55355"/>
                  </a:lnTo>
                  <a:lnTo>
                    <a:pt x="32187" y="30695"/>
                  </a:lnTo>
                  <a:lnTo>
                    <a:pt x="60602" y="0"/>
                  </a:lnTo>
                  <a:lnTo>
                    <a:pt x="85434" y="44895"/>
                  </a:lnTo>
                  <a:lnTo>
                    <a:pt x="115175" y="87214"/>
                  </a:lnTo>
                  <a:lnTo>
                    <a:pt x="149217" y="126672"/>
                  </a:lnTo>
                  <a:lnTo>
                    <a:pt x="186950" y="162979"/>
                  </a:lnTo>
                  <a:lnTo>
                    <a:pt x="227765" y="195850"/>
                  </a:lnTo>
                  <a:lnTo>
                    <a:pt x="271054" y="224996"/>
                  </a:lnTo>
                  <a:lnTo>
                    <a:pt x="316205" y="250130"/>
                  </a:lnTo>
                  <a:lnTo>
                    <a:pt x="362612" y="270966"/>
                  </a:lnTo>
                  <a:lnTo>
                    <a:pt x="409664" y="287215"/>
                  </a:lnTo>
                  <a:lnTo>
                    <a:pt x="451389" y="296200"/>
                  </a:lnTo>
                  <a:lnTo>
                    <a:pt x="464836" y="297692"/>
                  </a:lnTo>
                  <a:lnTo>
                    <a:pt x="398264" y="358804"/>
                  </a:lnTo>
                  <a:lnTo>
                    <a:pt x="340067" y="397296"/>
                  </a:lnTo>
                  <a:lnTo>
                    <a:pt x="298843" y="417334"/>
                  </a:lnTo>
                  <a:lnTo>
                    <a:pt x="283191" y="423087"/>
                  </a:lnTo>
                  <a:close/>
                </a:path>
              </a:pathLst>
            </a:custGeom>
            <a:solidFill>
              <a:srgbClr val="1A668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g3f60dfddb1a_0_44"/>
            <p:cNvSpPr/>
            <p:nvPr/>
          </p:nvSpPr>
          <p:spPr>
            <a:xfrm>
              <a:off x="11790288" y="4495610"/>
              <a:ext cx="278765" cy="245745"/>
            </a:xfrm>
            <a:custGeom>
              <a:rect b="b" l="l" r="r" t="t"/>
              <a:pathLst>
                <a:path extrusionOk="0" h="245745" w="278765">
                  <a:moveTo>
                    <a:pt x="43822" y="245688"/>
                  </a:moveTo>
                  <a:lnTo>
                    <a:pt x="0" y="192218"/>
                  </a:lnTo>
                  <a:lnTo>
                    <a:pt x="234644" y="0"/>
                  </a:lnTo>
                  <a:lnTo>
                    <a:pt x="278413" y="53469"/>
                  </a:lnTo>
                  <a:lnTo>
                    <a:pt x="43822" y="245688"/>
                  </a:lnTo>
                  <a:close/>
                </a:path>
              </a:pathLst>
            </a:custGeom>
            <a:solidFill>
              <a:srgbClr val="292E3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g3f60dfddb1a_0_44"/>
            <p:cNvSpPr/>
            <p:nvPr/>
          </p:nvSpPr>
          <p:spPr>
            <a:xfrm>
              <a:off x="11826101" y="4507912"/>
              <a:ext cx="766445" cy="903604"/>
            </a:xfrm>
            <a:custGeom>
              <a:rect b="b" l="l" r="r" t="t"/>
              <a:pathLst>
                <a:path extrusionOk="0" h="903604" w="766445">
                  <a:moveTo>
                    <a:pt x="697174" y="903573"/>
                  </a:moveTo>
                  <a:lnTo>
                    <a:pt x="678352" y="901505"/>
                  </a:lnTo>
                  <a:lnTo>
                    <a:pt x="664103" y="891794"/>
                  </a:lnTo>
                  <a:lnTo>
                    <a:pt x="6761" y="90077"/>
                  </a:lnTo>
                  <a:lnTo>
                    <a:pt x="0" y="74188"/>
                  </a:lnTo>
                  <a:lnTo>
                    <a:pt x="1663" y="55342"/>
                  </a:lnTo>
                  <a:lnTo>
                    <a:pt x="11076" y="35855"/>
                  </a:lnTo>
                  <a:lnTo>
                    <a:pt x="27559" y="18042"/>
                  </a:lnTo>
                  <a:lnTo>
                    <a:pt x="48276" y="5395"/>
                  </a:lnTo>
                  <a:lnTo>
                    <a:pt x="69237" y="0"/>
                  </a:lnTo>
                  <a:lnTo>
                    <a:pt x="88040" y="2065"/>
                  </a:lnTo>
                  <a:lnTo>
                    <a:pt x="102281" y="11799"/>
                  </a:lnTo>
                  <a:lnTo>
                    <a:pt x="759622" y="813516"/>
                  </a:lnTo>
                  <a:lnTo>
                    <a:pt x="766362" y="829405"/>
                  </a:lnTo>
                  <a:lnTo>
                    <a:pt x="764707" y="848251"/>
                  </a:lnTo>
                  <a:lnTo>
                    <a:pt x="755323" y="867738"/>
                  </a:lnTo>
                  <a:lnTo>
                    <a:pt x="738879" y="885551"/>
                  </a:lnTo>
                  <a:lnTo>
                    <a:pt x="718153" y="898191"/>
                  </a:lnTo>
                  <a:lnTo>
                    <a:pt x="697174" y="903573"/>
                  </a:lnTo>
                  <a:close/>
                </a:path>
              </a:pathLst>
            </a:custGeom>
            <a:solidFill>
              <a:srgbClr val="175C7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g3f60dfddb1a_0_44"/>
            <p:cNvSpPr/>
            <p:nvPr/>
          </p:nvSpPr>
          <p:spPr>
            <a:xfrm>
              <a:off x="14978926" y="7414232"/>
              <a:ext cx="40005" cy="57150"/>
            </a:xfrm>
            <a:custGeom>
              <a:rect b="b" l="l" r="r" t="t"/>
              <a:pathLst>
                <a:path extrusionOk="0" h="57150" w="40005">
                  <a:moveTo>
                    <a:pt x="22529" y="56680"/>
                  </a:moveTo>
                  <a:lnTo>
                    <a:pt x="14940" y="55871"/>
                  </a:lnTo>
                  <a:lnTo>
                    <a:pt x="9845" y="51825"/>
                  </a:lnTo>
                  <a:lnTo>
                    <a:pt x="7982" y="49398"/>
                  </a:lnTo>
                  <a:lnTo>
                    <a:pt x="0" y="0"/>
                  </a:lnTo>
                  <a:lnTo>
                    <a:pt x="39695" y="1194"/>
                  </a:lnTo>
                  <a:lnTo>
                    <a:pt x="31876" y="49398"/>
                  </a:lnTo>
                  <a:lnTo>
                    <a:pt x="22529" y="56680"/>
                  </a:lnTo>
                  <a:close/>
                </a:path>
              </a:pathLst>
            </a:custGeom>
            <a:solidFill>
              <a:srgbClr val="908F8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g3f60dfddb1a_0_44"/>
            <p:cNvSpPr/>
            <p:nvPr/>
          </p:nvSpPr>
          <p:spPr>
            <a:xfrm>
              <a:off x="14929835" y="7106280"/>
              <a:ext cx="140969" cy="316229"/>
            </a:xfrm>
            <a:custGeom>
              <a:rect b="b" l="l" r="r" t="t"/>
              <a:pathLst>
                <a:path extrusionOk="0" h="316229" w="140969">
                  <a:moveTo>
                    <a:pt x="79773" y="315991"/>
                  </a:moveTo>
                  <a:lnTo>
                    <a:pt x="58864" y="315327"/>
                  </a:lnTo>
                  <a:lnTo>
                    <a:pt x="43698" y="312006"/>
                  </a:lnTo>
                  <a:lnTo>
                    <a:pt x="37849" y="310014"/>
                  </a:lnTo>
                  <a:lnTo>
                    <a:pt x="0" y="0"/>
                  </a:lnTo>
                  <a:lnTo>
                    <a:pt x="140645" y="0"/>
                  </a:lnTo>
                  <a:lnTo>
                    <a:pt x="102850" y="310014"/>
                  </a:lnTo>
                  <a:lnTo>
                    <a:pt x="79773" y="315991"/>
                  </a:lnTo>
                  <a:close/>
                </a:path>
              </a:pathLst>
            </a:custGeom>
            <a:solidFill>
              <a:srgbClr val="BDBC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g3f60dfddb1a_0_44"/>
            <p:cNvSpPr/>
            <p:nvPr/>
          </p:nvSpPr>
          <p:spPr>
            <a:xfrm>
              <a:off x="14872349" y="4060200"/>
              <a:ext cx="255905" cy="3063240"/>
            </a:xfrm>
            <a:custGeom>
              <a:rect b="b" l="l" r="r" t="t"/>
              <a:pathLst>
                <a:path extrusionOk="0" h="3063240" w="255905">
                  <a:moveTo>
                    <a:pt x="145374" y="3062888"/>
                  </a:moveTo>
                  <a:lnTo>
                    <a:pt x="95118" y="3061021"/>
                  </a:lnTo>
                  <a:lnTo>
                    <a:pt x="48743" y="3046079"/>
                  </a:lnTo>
                  <a:lnTo>
                    <a:pt x="18071" y="2899885"/>
                  </a:lnTo>
                  <a:lnTo>
                    <a:pt x="3909" y="2795946"/>
                  </a:lnTo>
                  <a:lnTo>
                    <a:pt x="0" y="2733870"/>
                  </a:lnTo>
                  <a:lnTo>
                    <a:pt x="87" y="0"/>
                  </a:lnTo>
                  <a:lnTo>
                    <a:pt x="255475" y="0"/>
                  </a:lnTo>
                  <a:lnTo>
                    <a:pt x="255578" y="2733870"/>
                  </a:lnTo>
                  <a:lnTo>
                    <a:pt x="251695" y="2795946"/>
                  </a:lnTo>
                  <a:lnTo>
                    <a:pt x="237537" y="2899885"/>
                  </a:lnTo>
                  <a:lnTo>
                    <a:pt x="206820" y="3046079"/>
                  </a:lnTo>
                  <a:lnTo>
                    <a:pt x="145374" y="3062888"/>
                  </a:lnTo>
                  <a:close/>
                </a:path>
              </a:pathLst>
            </a:custGeom>
            <a:solidFill>
              <a:srgbClr val="292E3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g3f60dfddb1a_0_44"/>
            <p:cNvSpPr/>
            <p:nvPr/>
          </p:nvSpPr>
          <p:spPr>
            <a:xfrm>
              <a:off x="15005480" y="4429275"/>
              <a:ext cx="64134" cy="2573020"/>
            </a:xfrm>
            <a:custGeom>
              <a:rect b="b" l="l" r="r" t="t"/>
              <a:pathLst>
                <a:path extrusionOk="0" h="2573020" w="64134">
                  <a:moveTo>
                    <a:pt x="63806" y="2572779"/>
                  </a:moveTo>
                  <a:lnTo>
                    <a:pt x="43458" y="2553311"/>
                  </a:lnTo>
                  <a:lnTo>
                    <a:pt x="25570" y="2530628"/>
                  </a:lnTo>
                  <a:lnTo>
                    <a:pt x="10847" y="2505908"/>
                  </a:lnTo>
                  <a:lnTo>
                    <a:pt x="0" y="2480334"/>
                  </a:lnTo>
                  <a:lnTo>
                    <a:pt x="0" y="5265"/>
                  </a:lnTo>
                  <a:lnTo>
                    <a:pt x="15147" y="4709"/>
                  </a:lnTo>
                  <a:lnTo>
                    <a:pt x="30844" y="3670"/>
                  </a:lnTo>
                  <a:lnTo>
                    <a:pt x="47070" y="2112"/>
                  </a:lnTo>
                  <a:lnTo>
                    <a:pt x="63806" y="0"/>
                  </a:lnTo>
                  <a:lnTo>
                    <a:pt x="63806" y="2572779"/>
                  </a:lnTo>
                  <a:close/>
                </a:path>
              </a:pathLst>
            </a:custGeom>
            <a:solidFill>
              <a:srgbClr val="41455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g3f60dfddb1a_0_44"/>
            <p:cNvSpPr/>
            <p:nvPr/>
          </p:nvSpPr>
          <p:spPr>
            <a:xfrm>
              <a:off x="14872274" y="4419016"/>
              <a:ext cx="218440" cy="2705100"/>
            </a:xfrm>
            <a:custGeom>
              <a:rect b="b" l="l" r="r" t="t"/>
              <a:pathLst>
                <a:path extrusionOk="0" h="2705100" w="218440">
                  <a:moveTo>
                    <a:pt x="127232" y="2704960"/>
                  </a:moveTo>
                  <a:lnTo>
                    <a:pt x="82588" y="2699545"/>
                  </a:lnTo>
                  <a:lnTo>
                    <a:pt x="48438" y="2685581"/>
                  </a:lnTo>
                  <a:lnTo>
                    <a:pt x="48004" y="2683898"/>
                  </a:lnTo>
                  <a:lnTo>
                    <a:pt x="32303" y="2614903"/>
                  </a:lnTo>
                  <a:lnTo>
                    <a:pt x="19494" y="2548948"/>
                  </a:lnTo>
                  <a:lnTo>
                    <a:pt x="12634" y="2506692"/>
                  </a:lnTo>
                  <a:lnTo>
                    <a:pt x="4457" y="2441952"/>
                  </a:lnTo>
                  <a:lnTo>
                    <a:pt x="1520" y="2406399"/>
                  </a:lnTo>
                  <a:lnTo>
                    <a:pt x="756" y="2393238"/>
                  </a:lnTo>
                  <a:lnTo>
                    <a:pt x="291" y="2382005"/>
                  </a:lnTo>
                  <a:lnTo>
                    <a:pt x="78" y="2373347"/>
                  </a:lnTo>
                  <a:lnTo>
                    <a:pt x="0" y="2358032"/>
                  </a:lnTo>
                  <a:lnTo>
                    <a:pt x="162" y="2354450"/>
                  </a:lnTo>
                  <a:lnTo>
                    <a:pt x="162" y="0"/>
                  </a:lnTo>
                  <a:lnTo>
                    <a:pt x="13418" y="3413"/>
                  </a:lnTo>
                  <a:lnTo>
                    <a:pt x="29317" y="6873"/>
                  </a:lnTo>
                  <a:lnTo>
                    <a:pt x="47730" y="10099"/>
                  </a:lnTo>
                  <a:lnTo>
                    <a:pt x="68530" y="12810"/>
                  </a:lnTo>
                  <a:lnTo>
                    <a:pt x="68435" y="2311271"/>
                  </a:lnTo>
                  <a:lnTo>
                    <a:pt x="72291" y="2372697"/>
                  </a:lnTo>
                  <a:lnTo>
                    <a:pt x="72332" y="2373347"/>
                  </a:lnTo>
                  <a:lnTo>
                    <a:pt x="86491" y="2477286"/>
                  </a:lnTo>
                  <a:lnTo>
                    <a:pt x="117186" y="2623480"/>
                  </a:lnTo>
                  <a:lnTo>
                    <a:pt x="163531" y="2638320"/>
                  </a:lnTo>
                  <a:lnTo>
                    <a:pt x="195491" y="2641068"/>
                  </a:lnTo>
                  <a:lnTo>
                    <a:pt x="217720" y="2641068"/>
                  </a:lnTo>
                  <a:lnTo>
                    <a:pt x="214274" y="2656261"/>
                  </a:lnTo>
                  <a:lnTo>
                    <a:pt x="212323" y="2664696"/>
                  </a:lnTo>
                  <a:lnTo>
                    <a:pt x="210316" y="2673258"/>
                  </a:lnTo>
                  <a:lnTo>
                    <a:pt x="209176" y="2677872"/>
                  </a:lnTo>
                  <a:lnTo>
                    <a:pt x="208166" y="2682215"/>
                  </a:lnTo>
                  <a:lnTo>
                    <a:pt x="160731" y="2701913"/>
                  </a:lnTo>
                  <a:lnTo>
                    <a:pt x="143470" y="2704248"/>
                  </a:lnTo>
                  <a:lnTo>
                    <a:pt x="127232" y="2704960"/>
                  </a:lnTo>
                  <a:close/>
                </a:path>
                <a:path extrusionOk="0" h="2705100" w="218440">
                  <a:moveTo>
                    <a:pt x="217720" y="2641068"/>
                  </a:moveTo>
                  <a:lnTo>
                    <a:pt x="202660" y="2641068"/>
                  </a:lnTo>
                  <a:lnTo>
                    <a:pt x="210208" y="2640634"/>
                  </a:lnTo>
                  <a:lnTo>
                    <a:pt x="218027" y="2639711"/>
                  </a:lnTo>
                  <a:lnTo>
                    <a:pt x="217818" y="2640634"/>
                  </a:lnTo>
                  <a:lnTo>
                    <a:pt x="217720" y="2641068"/>
                  </a:lnTo>
                  <a:close/>
                </a:path>
              </a:pathLst>
            </a:custGeom>
            <a:solidFill>
              <a:srgbClr val="20232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g3f60dfddb1a_0_44"/>
            <p:cNvSpPr/>
            <p:nvPr/>
          </p:nvSpPr>
          <p:spPr>
            <a:xfrm>
              <a:off x="14848489" y="3942078"/>
              <a:ext cx="303530" cy="491489"/>
            </a:xfrm>
            <a:custGeom>
              <a:rect b="b" l="l" r="r" t="t"/>
              <a:pathLst>
                <a:path extrusionOk="0" h="491489" w="303530">
                  <a:moveTo>
                    <a:pt x="180868" y="491401"/>
                  </a:moveTo>
                  <a:lnTo>
                    <a:pt x="84923" y="488907"/>
                  </a:lnTo>
                  <a:lnTo>
                    <a:pt x="22365" y="476439"/>
                  </a:lnTo>
                  <a:lnTo>
                    <a:pt x="0" y="468958"/>
                  </a:lnTo>
                  <a:lnTo>
                    <a:pt x="0" y="22420"/>
                  </a:lnTo>
                  <a:lnTo>
                    <a:pt x="20127" y="14946"/>
                  </a:lnTo>
                  <a:lnTo>
                    <a:pt x="78957" y="2491"/>
                  </a:lnTo>
                  <a:lnTo>
                    <a:pt x="174155" y="0"/>
                  </a:lnTo>
                  <a:lnTo>
                    <a:pt x="303392" y="22420"/>
                  </a:lnTo>
                  <a:lnTo>
                    <a:pt x="303392" y="468958"/>
                  </a:lnTo>
                  <a:lnTo>
                    <a:pt x="180868" y="491401"/>
                  </a:lnTo>
                  <a:close/>
                </a:path>
              </a:pathLst>
            </a:custGeom>
            <a:solidFill>
              <a:srgbClr val="EC384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g3f60dfddb1a_0_44"/>
            <p:cNvSpPr/>
            <p:nvPr/>
          </p:nvSpPr>
          <p:spPr>
            <a:xfrm>
              <a:off x="15073948" y="3947946"/>
              <a:ext cx="55880" cy="480695"/>
            </a:xfrm>
            <a:custGeom>
              <a:rect b="b" l="l" r="r" t="t"/>
              <a:pathLst>
                <a:path extrusionOk="0" h="480695" w="55880">
                  <a:moveTo>
                    <a:pt x="21945" y="3962"/>
                  </a:moveTo>
                  <a:lnTo>
                    <a:pt x="0" y="0"/>
                  </a:lnTo>
                  <a:lnTo>
                    <a:pt x="0" y="480415"/>
                  </a:lnTo>
                  <a:lnTo>
                    <a:pt x="7112" y="479323"/>
                  </a:lnTo>
                  <a:lnTo>
                    <a:pt x="21945" y="476453"/>
                  </a:lnTo>
                  <a:lnTo>
                    <a:pt x="21945" y="3962"/>
                  </a:lnTo>
                  <a:close/>
                </a:path>
                <a:path extrusionOk="0" h="480695" w="55880">
                  <a:moveTo>
                    <a:pt x="55829" y="11290"/>
                  </a:moveTo>
                  <a:lnTo>
                    <a:pt x="39865" y="7759"/>
                  </a:lnTo>
                  <a:lnTo>
                    <a:pt x="39865" y="472541"/>
                  </a:lnTo>
                  <a:lnTo>
                    <a:pt x="55829" y="468795"/>
                  </a:lnTo>
                  <a:lnTo>
                    <a:pt x="55829" y="11290"/>
                  </a:lnTo>
                  <a:close/>
                </a:path>
              </a:pathLst>
            </a:custGeom>
            <a:solidFill>
              <a:srgbClr val="EF525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g3f60dfddb1a_0_44"/>
            <p:cNvSpPr/>
            <p:nvPr/>
          </p:nvSpPr>
          <p:spPr>
            <a:xfrm>
              <a:off x="14848489" y="3942784"/>
              <a:ext cx="220344" cy="492125"/>
            </a:xfrm>
            <a:custGeom>
              <a:rect b="b" l="l" r="r" t="t"/>
              <a:pathLst>
                <a:path extrusionOk="0" h="492125" w="220344">
                  <a:moveTo>
                    <a:pt x="145478" y="491702"/>
                  </a:moveTo>
                  <a:lnTo>
                    <a:pt x="84878" y="488038"/>
                  </a:lnTo>
                  <a:lnTo>
                    <a:pt x="39078" y="479977"/>
                  </a:lnTo>
                  <a:lnTo>
                    <a:pt x="10108" y="471915"/>
                  </a:lnTo>
                  <a:lnTo>
                    <a:pt x="0" y="468251"/>
                  </a:lnTo>
                  <a:lnTo>
                    <a:pt x="0" y="21713"/>
                  </a:lnTo>
                  <a:lnTo>
                    <a:pt x="6213" y="19107"/>
                  </a:lnTo>
                  <a:lnTo>
                    <a:pt x="24579" y="12953"/>
                  </a:lnTo>
                  <a:lnTo>
                    <a:pt x="54684" y="5751"/>
                  </a:lnTo>
                  <a:lnTo>
                    <a:pt x="96116" y="0"/>
                  </a:lnTo>
                  <a:lnTo>
                    <a:pt x="86853" y="50465"/>
                  </a:lnTo>
                  <a:lnTo>
                    <a:pt x="83017" y="102044"/>
                  </a:lnTo>
                  <a:lnTo>
                    <a:pt x="84321" y="154129"/>
                  </a:lnTo>
                  <a:lnTo>
                    <a:pt x="90475" y="206114"/>
                  </a:lnTo>
                  <a:lnTo>
                    <a:pt x="101193" y="257392"/>
                  </a:lnTo>
                  <a:lnTo>
                    <a:pt x="116185" y="307354"/>
                  </a:lnTo>
                  <a:lnTo>
                    <a:pt x="135163" y="355395"/>
                  </a:lnTo>
                  <a:lnTo>
                    <a:pt x="157839" y="400906"/>
                  </a:lnTo>
                  <a:lnTo>
                    <a:pt x="183925" y="443281"/>
                  </a:lnTo>
                  <a:lnTo>
                    <a:pt x="210568" y="476747"/>
                  </a:lnTo>
                  <a:lnTo>
                    <a:pt x="220037" y="486436"/>
                  </a:lnTo>
                  <a:lnTo>
                    <a:pt x="200269" y="488839"/>
                  </a:lnTo>
                  <a:lnTo>
                    <a:pt x="181230" y="490474"/>
                  </a:lnTo>
                  <a:lnTo>
                    <a:pt x="162955" y="491406"/>
                  </a:lnTo>
                  <a:lnTo>
                    <a:pt x="145478" y="491702"/>
                  </a:lnTo>
                  <a:close/>
                </a:path>
              </a:pathLst>
            </a:custGeom>
            <a:solidFill>
              <a:srgbClr val="B0293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g3f60dfddb1a_0_44"/>
            <p:cNvSpPr/>
            <p:nvPr/>
          </p:nvSpPr>
          <p:spPr>
            <a:xfrm>
              <a:off x="14848489" y="4118664"/>
              <a:ext cx="303530" cy="69214"/>
            </a:xfrm>
            <a:custGeom>
              <a:rect b="b" l="l" r="r" t="t"/>
              <a:pathLst>
                <a:path extrusionOk="0" h="69214" w="303530">
                  <a:moveTo>
                    <a:pt x="303392" y="69157"/>
                  </a:moveTo>
                  <a:lnTo>
                    <a:pt x="0" y="69157"/>
                  </a:lnTo>
                  <a:lnTo>
                    <a:pt x="0" y="0"/>
                  </a:lnTo>
                  <a:lnTo>
                    <a:pt x="303392" y="0"/>
                  </a:lnTo>
                  <a:lnTo>
                    <a:pt x="303392" y="69157"/>
                  </a:lnTo>
                  <a:close/>
                </a:path>
              </a:pathLst>
            </a:custGeom>
            <a:solidFill>
              <a:srgbClr val="292E3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g3f60dfddb1a_0_44"/>
            <p:cNvSpPr/>
            <p:nvPr/>
          </p:nvSpPr>
          <p:spPr>
            <a:xfrm>
              <a:off x="14938415" y="4033601"/>
              <a:ext cx="123825" cy="1122045"/>
            </a:xfrm>
            <a:custGeom>
              <a:rect b="b" l="l" r="r" t="t"/>
              <a:pathLst>
                <a:path extrusionOk="0" h="1122045" w="123825">
                  <a:moveTo>
                    <a:pt x="61742" y="1121719"/>
                  </a:moveTo>
                  <a:lnTo>
                    <a:pt x="37708" y="1118375"/>
                  </a:lnTo>
                  <a:lnTo>
                    <a:pt x="18083" y="1109255"/>
                  </a:lnTo>
                  <a:lnTo>
                    <a:pt x="4851" y="1095727"/>
                  </a:lnTo>
                  <a:lnTo>
                    <a:pt x="0" y="1079161"/>
                  </a:lnTo>
                  <a:lnTo>
                    <a:pt x="0" y="42558"/>
                  </a:lnTo>
                  <a:lnTo>
                    <a:pt x="4851" y="25992"/>
                  </a:lnTo>
                  <a:lnTo>
                    <a:pt x="18083" y="12464"/>
                  </a:lnTo>
                  <a:lnTo>
                    <a:pt x="37708" y="3344"/>
                  </a:lnTo>
                  <a:lnTo>
                    <a:pt x="61742" y="0"/>
                  </a:lnTo>
                  <a:lnTo>
                    <a:pt x="85777" y="3344"/>
                  </a:lnTo>
                  <a:lnTo>
                    <a:pt x="105402" y="12464"/>
                  </a:lnTo>
                  <a:lnTo>
                    <a:pt x="118634" y="25992"/>
                  </a:lnTo>
                  <a:lnTo>
                    <a:pt x="123485" y="42558"/>
                  </a:lnTo>
                  <a:lnTo>
                    <a:pt x="123485" y="1079161"/>
                  </a:lnTo>
                  <a:lnTo>
                    <a:pt x="118634" y="1095727"/>
                  </a:lnTo>
                  <a:lnTo>
                    <a:pt x="105402" y="1109255"/>
                  </a:lnTo>
                  <a:lnTo>
                    <a:pt x="85777" y="1118375"/>
                  </a:lnTo>
                  <a:lnTo>
                    <a:pt x="61742" y="1121719"/>
                  </a:lnTo>
                  <a:close/>
                </a:path>
              </a:pathLst>
            </a:custGeom>
            <a:solidFill>
              <a:srgbClr val="A61D2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6" name="Google Shape;326;g3f60dfddb1a_0_44"/>
          <p:cNvSpPr/>
          <p:nvPr/>
        </p:nvSpPr>
        <p:spPr>
          <a:xfrm rot="5400000">
            <a:off x="6174328" y="4191740"/>
            <a:ext cx="1473600" cy="1047300"/>
          </a:xfrm>
          <a:prstGeom prst="rightArrow">
            <a:avLst>
              <a:gd fmla="val 50000" name="adj1"/>
              <a:gd fmla="val 60758" name="adj2"/>
            </a:avLst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D5D5D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g3f60dfddb1a_0_44"/>
          <p:cNvSpPr/>
          <p:nvPr/>
        </p:nvSpPr>
        <p:spPr>
          <a:xfrm>
            <a:off x="5682025" y="3486300"/>
            <a:ext cx="2458200" cy="2458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9c64703a8e_0_31"/>
          <p:cNvSpPr txBox="1"/>
          <p:nvPr/>
        </p:nvSpPr>
        <p:spPr>
          <a:xfrm>
            <a:off x="415599" y="1536633"/>
            <a:ext cx="7837200" cy="4555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4"/>
              </a:srgbClr>
            </a:outerShdw>
          </a:effectLst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-330200" lvl="0" marL="457200" marR="0" rtl="0" algn="l">
              <a:lnSpc>
                <a:spcPct val="2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b="0" i="0" lang="en-GB" sz="2400" u="none" cap="none" strike="noStrike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Intellij - powerful IDE designed for java projects</a:t>
            </a:r>
            <a:endParaRPr b="0" i="0" sz="2400" u="none" cap="none" strike="noStrike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○"/>
            </a:pPr>
            <a:r>
              <a:rPr b="0" i="0" lang="en-GB" sz="2000" u="none" cap="none" strike="noStrike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rPr>
              <a:t>Widely used in industries and universities</a:t>
            </a:r>
            <a:endParaRPr b="0" i="0" sz="2000" u="none" cap="none" strike="noStrike">
              <a:solidFill>
                <a:schemeClr val="accen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b="0" i="0" lang="en-GB" sz="2400" u="none" cap="none" strike="noStrike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VS Code - lightweight IDE with many plug-ins</a:t>
            </a:r>
            <a:endParaRPr b="0" i="0" sz="2400" u="none" cap="none" strike="noStrike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○"/>
            </a:pPr>
            <a:r>
              <a:rPr b="0" i="0" lang="en-GB" sz="2000" u="none" cap="none" strike="noStrike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rPr>
              <a:t>The plug-ins allows it to have different functionalities</a:t>
            </a:r>
            <a:endParaRPr b="0" i="0" sz="2000" u="none" cap="none" strike="noStrike">
              <a:solidFill>
                <a:schemeClr val="accen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33" name="Google Shape;333;g39c64703a8e_0_31"/>
          <p:cNvSpPr txBox="1"/>
          <p:nvPr/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GB" sz="2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Commonly Used IDEs </a:t>
            </a:r>
            <a:endParaRPr b="1" i="0" sz="2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4" name="Google Shape;334;g39c64703a8e_0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27425" y="3660600"/>
            <a:ext cx="2000250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g39c64703a8e_0_31" title="527-5279597_intellij-idea-logo-png-transparent-png-3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77874" y="1031217"/>
            <a:ext cx="3621501" cy="2863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7"/>
          <p:cNvSpPr txBox="1"/>
          <p:nvPr/>
        </p:nvSpPr>
        <p:spPr>
          <a:xfrm>
            <a:off x="415599" y="1536633"/>
            <a:ext cx="7837200" cy="4555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4"/>
              </a:srgbClr>
            </a:outerShdw>
          </a:effectLst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-330200" lvl="0" marL="457200" marR="0" rtl="0" algn="l">
              <a:lnSpc>
                <a:spcPct val="2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b="0" i="0" lang="en-GB" sz="2400" u="none" cap="none" strike="noStrike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You can download Intellij via</a:t>
            </a:r>
            <a:endParaRPr b="0" i="0" sz="2400" u="none" cap="none" strike="noStrike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810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2400"/>
              <a:buFont typeface="Roboto Medium"/>
              <a:buChar char="○"/>
            </a:pPr>
            <a:r>
              <a:rPr b="0" i="0" lang="en-GB" sz="2400" u="sng" cap="none" strike="noStrike">
                <a:solidFill>
                  <a:schemeClr val="hlink"/>
                </a:solidFill>
                <a:latin typeface="Roboto Medium"/>
                <a:ea typeface="Roboto Medium"/>
                <a:cs typeface="Roboto Medium"/>
                <a:sym typeface="Roboto Medium"/>
                <a:hlinkClick r:id="rId3"/>
              </a:rPr>
              <a:t>https://www.jetbrains.com/idea/</a:t>
            </a:r>
            <a:endParaRPr b="0" i="0" sz="2400" u="none" cap="none" strike="noStrike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810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2400"/>
              <a:buFont typeface="Roboto Medium"/>
              <a:buChar char="➢"/>
            </a:pPr>
            <a:r>
              <a:rPr b="0" i="0" lang="en-GB" sz="2400" u="none" cap="none" strike="noStrike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You can download VS Code via</a:t>
            </a:r>
            <a:endParaRPr b="0" i="0" sz="2400" u="none" cap="none" strike="noStrike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810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2400"/>
              <a:buFont typeface="Roboto Medium"/>
              <a:buChar char="○"/>
            </a:pPr>
            <a:r>
              <a:rPr b="0" i="0" lang="en-GB" sz="2400" u="sng" cap="none" strike="noStrike">
                <a:solidFill>
                  <a:schemeClr val="hlink"/>
                </a:solidFill>
                <a:latin typeface="Roboto Medium"/>
                <a:ea typeface="Roboto Medium"/>
                <a:cs typeface="Roboto Medium"/>
                <a:sym typeface="Roboto Medium"/>
                <a:hlinkClick r:id="rId4"/>
              </a:rPr>
              <a:t>https://code.visualstudio.com/</a:t>
            </a:r>
            <a:endParaRPr b="0" i="0" sz="2400" u="none" cap="none" strike="noStrike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41" name="Google Shape;341;p7"/>
          <p:cNvSpPr txBox="1"/>
          <p:nvPr/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GB" sz="2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Downloads</a:t>
            </a:r>
            <a:endParaRPr b="1" i="0" sz="2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9c94630b4a_0_92"/>
          <p:cNvSpPr txBox="1"/>
          <p:nvPr/>
        </p:nvSpPr>
        <p:spPr>
          <a:xfrm>
            <a:off x="415599" y="1536633"/>
            <a:ext cx="7837200" cy="4555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4"/>
              </a:srgbClr>
            </a:outerShdw>
          </a:effectLst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b="0" i="0" lang="en-GB" sz="2400" u="none" cap="none" strike="noStrike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Note that IDEs does not come with the language compiler / interpreter that you need for running programs</a:t>
            </a:r>
            <a:endParaRPr b="0" i="0" sz="2400" u="none" cap="none" strike="noStrike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b="0" i="0" lang="en-GB" sz="2400" u="none" cap="none" strike="noStrike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You would have to either download compilers / interpreters from the official websites or corresponding language plug-ins</a:t>
            </a:r>
            <a:endParaRPr b="0" i="0" sz="2400" u="none" cap="none" strike="noStrike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47" name="Google Shape;347;g39c94630b4a_0_92"/>
          <p:cNvSpPr txBox="1"/>
          <p:nvPr/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GB" sz="2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IDEs vs Compiler/Interpreter </a:t>
            </a:r>
            <a:endParaRPr b="1" i="0" sz="2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f60dfddb1a_0_86"/>
          <p:cNvSpPr txBox="1"/>
          <p:nvPr/>
        </p:nvSpPr>
        <p:spPr>
          <a:xfrm>
            <a:off x="415599" y="1536633"/>
            <a:ext cx="7837200" cy="4555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IDEs alone also don’t provide you with language–specific supports 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mentioned</a:t>
            </a: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 above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rgbClr val="D5D5D5"/>
              </a:buClr>
              <a:buSzPts val="2400"/>
              <a:buFont typeface="Roboto Medium"/>
              <a:buChar char="➢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Those features are offered by extensions that implements language server protocol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rgbClr val="D5D5D5"/>
              </a:buClr>
              <a:buSzPts val="2400"/>
              <a:buFont typeface="Roboto Medium"/>
              <a:buChar char="➢"/>
            </a:pPr>
            <a:r>
              <a:rPr lang="en-GB" sz="2400">
                <a:solidFill>
                  <a:srgbClr val="D5D5D5"/>
                </a:solidFill>
                <a:latin typeface="Roboto Medium"/>
                <a:ea typeface="Roboto Medium"/>
                <a:cs typeface="Roboto Medium"/>
                <a:sym typeface="Roboto Medium"/>
              </a:rPr>
              <a:t>For example, you can download the language extensions in VS Code</a:t>
            </a:r>
            <a:endParaRPr sz="2400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D5D5D5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53" name="Google Shape;353;g3f60dfddb1a_0_86"/>
          <p:cNvSpPr txBox="1"/>
          <p:nvPr/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GB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Language servers</a:t>
            </a:r>
            <a:endParaRPr b="1" i="0" sz="2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9c64703a8e_0_73"/>
          <p:cNvSpPr txBox="1"/>
          <p:nvPr/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GB" sz="2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Customised Code Execution</a:t>
            </a:r>
            <a:endParaRPr b="1" i="0" sz="2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" name="Google Shape;359;g39c64703a8e_0_73"/>
          <p:cNvSpPr txBox="1"/>
          <p:nvPr/>
        </p:nvSpPr>
        <p:spPr>
          <a:xfrm>
            <a:off x="415600" y="1537200"/>
            <a:ext cx="7543200" cy="4222800"/>
          </a:xfrm>
          <a:prstGeom prst="rect">
            <a:avLst/>
          </a:prstGeom>
          <a:noFill/>
          <a:ln>
            <a:noFill/>
          </a:ln>
          <a:effectLst>
            <a:outerShdw blurRad="342900" rotWithShape="0" algn="bl" dir="3000000" dist="9525">
              <a:srgbClr val="000000">
                <a:alpha val="49804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b="0" i="0" lang="en-GB" sz="24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Using IDEs, you can specify running configurations, for example:</a:t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○"/>
            </a:pPr>
            <a:r>
              <a:rPr b="0" i="0" lang="en-GB" sz="1600" u="none" cap="none" strike="noStrike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rPr>
              <a:t>Which file to run</a:t>
            </a:r>
            <a:endParaRPr b="0" i="0" sz="1600" u="none" cap="none" strike="noStrike">
              <a:solidFill>
                <a:schemeClr val="accen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○"/>
            </a:pPr>
            <a:r>
              <a:rPr b="0" i="0" lang="en-GB" sz="1600" u="none" cap="none" strike="noStrike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rPr>
              <a:t>File type of the program being run</a:t>
            </a:r>
            <a:endParaRPr b="0" i="0" sz="1600" u="none" cap="none" strike="noStrike">
              <a:solidFill>
                <a:schemeClr val="accen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○"/>
            </a:pPr>
            <a:r>
              <a:rPr b="0" i="0" lang="en-GB" sz="1600" u="none" cap="none" strike="noStrike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rPr>
              <a:t>Arguments being passed to the program</a:t>
            </a:r>
            <a:endParaRPr b="0" i="0" sz="1600" u="none" cap="none" strike="noStrike">
              <a:solidFill>
                <a:schemeClr val="accen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30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○"/>
            </a:pPr>
            <a:r>
              <a:rPr b="0" i="0" lang="en-GB" sz="1600" u="none" cap="none" strike="noStrike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rPr>
              <a:t>And more …</a:t>
            </a:r>
            <a:endParaRPr b="0" i="0" sz="1600" u="none" cap="none" strike="noStrike">
              <a:solidFill>
                <a:schemeClr val="accen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60" name="Google Shape;360;g39c64703a8e_0_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7150" y="839775"/>
            <a:ext cx="3481924" cy="2959649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61" name="Google Shape;361;g39c64703a8e_0_73" title="527-5279597_intellij-idea-logo-png-transparent-png-3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2579658">
            <a:off x="9101453" y="2685329"/>
            <a:ext cx="1177471" cy="93104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</p:pic>
      <p:pic>
        <p:nvPicPr>
          <p:cNvPr id="362" name="Google Shape;362;g39c64703a8e_0_7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57875" y="3621625"/>
            <a:ext cx="1911875" cy="313055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63" name="Google Shape;363;g39c64703a8e_0_7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3290898">
            <a:off x="9567534" y="5987287"/>
            <a:ext cx="727604" cy="727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9c94630b4a_0_6"/>
          <p:cNvSpPr txBox="1"/>
          <p:nvPr/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GB" sz="2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Setting Up Git In IDEs</a:t>
            </a:r>
            <a:endParaRPr b="1" i="0" sz="2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g39c94630b4a_0_6"/>
          <p:cNvSpPr txBox="1"/>
          <p:nvPr/>
        </p:nvSpPr>
        <p:spPr>
          <a:xfrm>
            <a:off x="415600" y="1243550"/>
            <a:ext cx="7178100" cy="5397600"/>
          </a:xfrm>
          <a:prstGeom prst="rect">
            <a:avLst/>
          </a:prstGeom>
          <a:noFill/>
          <a:ln>
            <a:noFill/>
          </a:ln>
          <a:effectLst>
            <a:outerShdw blurRad="342900" rotWithShape="0" algn="bl" dir="3000000" dist="9525">
              <a:srgbClr val="000000">
                <a:alpha val="49804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Char char="➢"/>
            </a:pPr>
            <a:r>
              <a:rPr b="0" i="0" lang="en-GB" sz="24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Using Intellij, you can </a:t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810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 Medium"/>
              <a:buChar char="○"/>
            </a:pPr>
            <a:r>
              <a:rPr b="0" i="0" lang="en-GB" sz="24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Go to settings -&gt; version control -&gt; github to add your account</a:t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810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 Medium"/>
              <a:buChar char="○"/>
            </a:pPr>
            <a:r>
              <a:rPr b="0" i="0" lang="en-GB" sz="24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Then if you want to upload a local project</a:t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810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edium"/>
              <a:buChar char="■"/>
            </a:pPr>
            <a:r>
              <a:rPr b="0" i="0" lang="en-GB" sz="2400" u="none" cap="none" strike="noStrike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rPr>
              <a:t>Click the git icon at the bottom and initialise your repository </a:t>
            </a:r>
            <a:endParaRPr b="0" i="0" sz="2400" u="none" cap="none" strike="noStrike">
              <a:solidFill>
                <a:schemeClr val="accen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810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edium"/>
              <a:buChar char="■"/>
            </a:pPr>
            <a:r>
              <a:rPr b="0" i="0" lang="en-GB" sz="2400" u="none" cap="none" strike="noStrike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rPr>
              <a:t>Then go to Git -&gt; GitHub -&gt; Share Project on Github and initialise your git repo</a:t>
            </a:r>
            <a:endParaRPr b="0" i="0" sz="2400" u="none" cap="none" strike="noStrike">
              <a:solidFill>
                <a:schemeClr val="accen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810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 Medium"/>
              <a:buChar char="○"/>
            </a:pPr>
            <a:r>
              <a:rPr b="0" i="0" lang="en-GB" sz="24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Or you can clone a project from GitHub</a:t>
            </a:r>
            <a:endParaRPr b="0" i="0" sz="2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70" name="Google Shape;370;g39c94630b4a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3700" y="2585830"/>
            <a:ext cx="4452101" cy="2713033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InfPALS">
  <a:themeElements>
    <a:clrScheme name="Simple Light">
      <a:dk1>
        <a:srgbClr val="FFFFFF"/>
      </a:dk1>
      <a:lt1>
        <a:srgbClr val="D5D5D5"/>
      </a:lt1>
      <a:dk2>
        <a:srgbClr val="CCCCCC"/>
      </a:dk2>
      <a:lt2>
        <a:srgbClr val="000000"/>
      </a:lt2>
      <a:accent1>
        <a:srgbClr val="D9534F"/>
      </a:accent1>
      <a:accent2>
        <a:srgbClr val="212121"/>
      </a:accent2>
      <a:accent3>
        <a:srgbClr val="78909C"/>
      </a:accent3>
      <a:accent4>
        <a:srgbClr val="FFC83D"/>
      </a:accent4>
      <a:accent5>
        <a:srgbClr val="325D88"/>
      </a:accent5>
      <a:accent6>
        <a:srgbClr val="E91C51"/>
      </a:accent6>
      <a:hlink>
        <a:srgbClr val="5F528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InfPALS">
  <a:themeElements>
    <a:clrScheme name="Simple Light">
      <a:dk1>
        <a:srgbClr val="FFFFFF"/>
      </a:dk1>
      <a:lt1>
        <a:srgbClr val="D5D5D5"/>
      </a:lt1>
      <a:dk2>
        <a:srgbClr val="CCCCCC"/>
      </a:dk2>
      <a:lt2>
        <a:srgbClr val="000000"/>
      </a:lt2>
      <a:accent1>
        <a:srgbClr val="D9534F"/>
      </a:accent1>
      <a:accent2>
        <a:srgbClr val="212121"/>
      </a:accent2>
      <a:accent3>
        <a:srgbClr val="78909C"/>
      </a:accent3>
      <a:accent4>
        <a:srgbClr val="FFC83D"/>
      </a:accent4>
      <a:accent5>
        <a:srgbClr val="325D88"/>
      </a:accent5>
      <a:accent6>
        <a:srgbClr val="E91C51"/>
      </a:accent6>
      <a:hlink>
        <a:srgbClr val="5F528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2023-07-01T11:43:35Z</dcterms:created>
  <dc:creator>Elliot Lister</dc:creator>
</cp:coreProperties>
</file>